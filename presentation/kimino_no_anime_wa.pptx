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ライブデモの進行順 : ホーム画面(おすすめ) → ランキング(韓国/日本マンガ、アニメフィルター) → 作品詳細(シリーズ接続、レビュー作成) → AI自然言語検索 → AIチャットボット推薦との対話 → マイページ/保管庫の順に画面を見せながらデモを行う。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141B49"/>
          </a:solidFill>
          <a:ln/>
        </p:spPr>
      </p:sp>
      <p:sp>
        <p:nvSpPr>
          <p:cNvPr id="3" name="Shape 1"/>
          <p:cNvSpPr/>
          <p:nvPr/>
        </p:nvSpPr>
        <p:spPr>
          <a:xfrm>
            <a:off x="10241280" y="4206240"/>
            <a:ext cx="3840480" cy="3840480"/>
          </a:xfrm>
          <a:prstGeom prst="ellipse">
            <a:avLst/>
          </a:prstGeom>
          <a:solidFill>
            <a:srgbClr val="141B49"/>
          </a:solidFill>
          <a:ln/>
        </p:spPr>
      </p:sp>
      <p:sp>
        <p:nvSpPr>
          <p:cNvPr id="4" name="Shape 2"/>
          <p:cNvSpPr/>
          <p:nvPr/>
        </p:nvSpPr>
        <p:spPr>
          <a:xfrm>
            <a:off x="-1463040" y="4937760"/>
            <a:ext cx="3291840" cy="3291840"/>
          </a:xfrm>
          <a:prstGeom prst="ellipse">
            <a:avLst/>
          </a:prstGeom>
          <a:solidFill>
            <a:srgbClr val="141B49"/>
          </a:solidFill>
          <a:ln/>
        </p:spPr>
      </p:sp>
      <p:sp>
        <p:nvSpPr>
          <p:cNvPr id="5" name="Shape 3"/>
          <p:cNvSpPr/>
          <p:nvPr/>
        </p:nvSpPr>
        <p:spPr>
          <a:xfrm>
            <a:off x="640080" y="640080"/>
            <a:ext cx="822960" cy="822960"/>
          </a:xfrm>
          <a:prstGeom prst="ellipse">
            <a:avLst/>
          </a:prstGeom>
          <a:solidFill>
            <a:srgbClr val="E8433B"/>
          </a:solidFill>
          <a:ln/>
        </p:spPr>
      </p:sp>
      <p:pic>
        <p:nvPicPr>
          <p:cNvPr id="6" name="Image 0" descr="/home/claude/kiminoaniwa_ppt/icons/cover_film.png">    </p:cNvPr>
          <p:cNvPicPr>
            <a:picLocks noChangeAspect="1"/>
          </p:cNvPicPr>
          <p:nvPr/>
        </p:nvPicPr>
        <p:blipFill>
          <a:blip r:embed="rId1"/>
          <a:stretch>
            <a:fillRect/>
          </a:stretch>
        </p:blipFill>
        <p:spPr>
          <a:xfrm>
            <a:off x="837590" y="837590"/>
            <a:ext cx="427939" cy="427939"/>
          </a:xfrm>
          <a:prstGeom prst="rect">
            <a:avLst/>
          </a:prstGeom>
        </p:spPr>
      </p:pic>
      <p:sp>
        <p:nvSpPr>
          <p:cNvPr id="7" name="Text 4"/>
          <p:cNvSpPr/>
          <p:nvPr/>
        </p:nvSpPr>
        <p:spPr>
          <a:xfrm>
            <a:off x="548640" y="1691640"/>
            <a:ext cx="7315200" cy="365760"/>
          </a:xfrm>
          <a:prstGeom prst="rect">
            <a:avLst/>
          </a:prstGeom>
          <a:noFill/>
          <a:ln/>
        </p:spPr>
        <p:txBody>
          <a:bodyPr wrap="square" rtlCol="0" anchor="ctr"/>
          <a:lstStyle/>
          <a:p>
            <a:pPr indent="0" marL="0">
              <a:buNone/>
            </a:pPr>
            <a:r>
              <a:rPr lang="en-US" sz="1400" b="1" spc="200" kern="0" dirty="0">
                <a:solidFill>
                  <a:srgbClr val="CADCFC"/>
                </a:solidFill>
                <a:latin typeface="Calibri" pitchFamily="34" charset="0"/>
                <a:ea typeface="Calibri" pitchFamily="34" charset="-122"/>
                <a:cs typeface="Calibri" pitchFamily="34" charset="-120"/>
              </a:rPr>
              <a:t>YJU-GSC  ·  GSC LAB 9</a:t>
            </a:r>
            <a:endParaRPr lang="en-US" sz="1400" dirty="0"/>
          </a:p>
        </p:txBody>
      </p:sp>
      <p:sp>
        <p:nvSpPr>
          <p:cNvPr id="8" name="Text 5"/>
          <p:cNvSpPr/>
          <p:nvPr/>
        </p:nvSpPr>
        <p:spPr>
          <a:xfrm>
            <a:off x="502920" y="2148840"/>
            <a:ext cx="10058400" cy="118872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君のアニメは</a:t>
            </a:r>
            <a:endParaRPr lang="en-US" sz="6000" dirty="0"/>
          </a:p>
        </p:txBody>
      </p:sp>
      <p:sp>
        <p:nvSpPr>
          <p:cNvPr id="9" name="Text 6"/>
          <p:cNvSpPr/>
          <p:nvPr/>
        </p:nvSpPr>
        <p:spPr>
          <a:xfrm>
            <a:off x="548640" y="3429000"/>
            <a:ext cx="1005840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日韓アニメ・マンガ統合レコメンドプラットフォーム</a:t>
            </a:r>
            <a:endParaRPr lang="en-US" sz="1900" dirty="0"/>
          </a:p>
        </p:txBody>
      </p:sp>
      <p:sp>
        <p:nvSpPr>
          <p:cNvPr id="10" name="Shape 7"/>
          <p:cNvSpPr/>
          <p:nvPr/>
        </p:nvSpPr>
        <p:spPr>
          <a:xfrm>
            <a:off x="548640" y="5074920"/>
            <a:ext cx="2011680" cy="0"/>
          </a:xfrm>
          <a:prstGeom prst="line">
            <a:avLst/>
          </a:prstGeom>
          <a:noFill/>
          <a:ln w="25400">
            <a:solidFill>
              <a:srgbClr val="E8433B"/>
            </a:solidFill>
            <a:prstDash val="solid"/>
          </a:ln>
        </p:spPr>
      </p:sp>
      <p:sp>
        <p:nvSpPr>
          <p:cNvPr id="11" name="Text 8"/>
          <p:cNvSpPr/>
          <p:nvPr/>
        </p:nvSpPr>
        <p:spPr>
          <a:xfrm>
            <a:off x="548640" y="5257800"/>
            <a:ext cx="7315200" cy="32004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卒業制作発表  ·  Capstone Project Presentation</a:t>
            </a:r>
            <a:endParaRPr lang="en-US" sz="1200" dirty="0"/>
          </a:p>
        </p:txBody>
      </p:sp>
      <p:sp>
        <p:nvSpPr>
          <p:cNvPr id="12" name="Text 9"/>
          <p:cNvSpPr/>
          <p:nvPr/>
        </p:nvSpPr>
        <p:spPr>
          <a:xfrm>
            <a:off x="548640" y="6172200"/>
            <a:ext cx="36576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2026. 08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E8433B"/>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594360"/>
            <a:ext cx="91440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プロジェクト概要</a:t>
            </a:r>
            <a:endParaRPr lang="en-US" sz="3200" dirty="0"/>
          </a:p>
        </p:txBody>
      </p:sp>
      <p:sp>
        <p:nvSpPr>
          <p:cNvPr id="4" name="Shape 2"/>
          <p:cNvSpPr/>
          <p:nvPr/>
        </p:nvSpPr>
        <p:spPr>
          <a:xfrm>
            <a:off x="548640" y="1600200"/>
            <a:ext cx="11064240" cy="1051560"/>
          </a:xfrm>
          <a:prstGeom prst="roundRect">
            <a:avLst>
              <a:gd name="adj" fmla="val 10435"/>
            </a:avLst>
          </a:prstGeom>
          <a:solidFill>
            <a:srgbClr val="1E2761"/>
          </a:solidFill>
          <a:ln/>
          <a:effectLst>
            <a:outerShdw sx="100000" sy="100000" kx="0" ky="0" algn="bl" rotWithShape="0" blurRad="101600" dist="38100" dir="5400000">
              <a:srgbClr val="1E2761">
                <a:alpha val="18000"/>
              </a:srgbClr>
            </a:outerShdw>
          </a:effectLst>
        </p:spPr>
      </p:sp>
      <p:sp>
        <p:nvSpPr>
          <p:cNvPr id="5" name="Text 3"/>
          <p:cNvSpPr/>
          <p:nvPr/>
        </p:nvSpPr>
        <p:spPr>
          <a:xfrm>
            <a:off x="868680" y="1737360"/>
            <a:ext cx="10424160" cy="777240"/>
          </a:xfrm>
          <a:prstGeom prst="rect">
            <a:avLst/>
          </a:prstGeom>
          <a:noFill/>
          <a:ln/>
        </p:spPr>
        <p:txBody>
          <a:bodyPr wrap="square" rtlCol="0" anchor="ctr"/>
          <a:lstStyle/>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日本・韓国のアニメ／マンガ情報を1か所に集めて比較し、サービス自体のレビュー・評価データをもとにAIが好みに合った作品をおすすめする非商用の個人・検証プロジェクト</a:t>
            </a:r>
            <a:endParaRPr lang="en-US" sz="1500" dirty="0"/>
          </a:p>
        </p:txBody>
      </p:sp>
      <p:sp>
        <p:nvSpPr>
          <p:cNvPr id="6" name="Shape 4"/>
          <p:cNvSpPr/>
          <p:nvPr/>
        </p:nvSpPr>
        <p:spPr>
          <a:xfrm>
            <a:off x="548640" y="2971800"/>
            <a:ext cx="3474720" cy="3246120"/>
          </a:xfrm>
          <a:prstGeom prst="roundRect">
            <a:avLst>
              <a:gd name="adj" fmla="val 2817"/>
            </a:avLst>
          </a:prstGeom>
          <a:solidFill>
            <a:srgbClr val="F4F6FB"/>
          </a:solidFill>
          <a:ln/>
          <a:effectLst>
            <a:outerShdw sx="100000" sy="100000" kx="0" ky="0" algn="bl" rotWithShape="0" blurRad="101600" dist="38100" dir="5400000">
              <a:srgbClr val="1E2761">
                <a:alpha val="18000"/>
              </a:srgbClr>
            </a:outerShdw>
          </a:effectLst>
        </p:spPr>
      </p:sp>
      <p:sp>
        <p:nvSpPr>
          <p:cNvPr id="7" name="Shape 5"/>
          <p:cNvSpPr/>
          <p:nvPr/>
        </p:nvSpPr>
        <p:spPr>
          <a:xfrm>
            <a:off x="868680" y="3291840"/>
            <a:ext cx="731520" cy="731520"/>
          </a:xfrm>
          <a:prstGeom prst="ellipse">
            <a:avLst/>
          </a:prstGeom>
          <a:solidFill>
            <a:srgbClr val="FFFFFF"/>
          </a:solidFill>
          <a:ln/>
        </p:spPr>
      </p:sp>
      <p:pic>
        <p:nvPicPr>
          <p:cNvPr id="8" name="Image 0" descr="/home/claude/kiminoaniwa_ppt/icons/ov_globe.png">    </p:cNvPr>
          <p:cNvPicPr>
            <a:picLocks noChangeAspect="1"/>
          </p:cNvPicPr>
          <p:nvPr/>
        </p:nvPicPr>
        <p:blipFill>
          <a:blip r:embed="rId1"/>
          <a:stretch>
            <a:fillRect/>
          </a:stretch>
        </p:blipFill>
        <p:spPr>
          <a:xfrm>
            <a:off x="1051560" y="3474720"/>
            <a:ext cx="365760" cy="365760"/>
          </a:xfrm>
          <a:prstGeom prst="rect">
            <a:avLst/>
          </a:prstGeom>
        </p:spPr>
      </p:pic>
      <p:sp>
        <p:nvSpPr>
          <p:cNvPr id="9" name="Text 6"/>
          <p:cNvSpPr/>
          <p:nvPr/>
        </p:nvSpPr>
        <p:spPr>
          <a:xfrm>
            <a:off x="868680" y="4160520"/>
            <a:ext cx="2834640" cy="36576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データ基盤</a:t>
            </a:r>
            <a:endParaRPr lang="en-US" sz="1700" dirty="0"/>
          </a:p>
        </p:txBody>
      </p:sp>
      <p:sp>
        <p:nvSpPr>
          <p:cNvPr id="10" name="Text 7"/>
          <p:cNvSpPr/>
          <p:nvPr/>
        </p:nvSpPr>
        <p:spPr>
          <a:xfrm>
            <a:off x="868680" y="4572000"/>
            <a:ext cx="2834640" cy="1463040"/>
          </a:xfrm>
          <a:prstGeom prst="rect">
            <a:avLst/>
          </a:prstGeom>
          <a:noFill/>
          <a:ln/>
        </p:spPr>
        <p:txBody>
          <a:bodyPr wrap="square" rtlCol="0" anchor="ctr"/>
          <a:lstStyle/>
          <a:p>
            <a:pPr indent="0" marL="0">
              <a:lnSpc>
                <a:spcPct val="120000"/>
              </a:lnSpc>
              <a:buNone/>
            </a:pPr>
            <a:r>
              <a:rPr lang="en-US" sz="1250" dirty="0">
                <a:solidFill>
                  <a:srgbClr val="5B6478"/>
                </a:solidFill>
                <a:latin typeface="Calibri" pitchFamily="34" charset="0"/>
                <a:ea typeface="Calibri" pitchFamily="34" charset="-122"/>
                <a:cs typeface="Calibri" pitchFamily="34" charset="-120"/>
              </a:rPr>
              <a:t>AniList APIのメタデータ(タイトル・ジャンル・タグ・原作とアニメの関係)をバッチ同期で自前DBにキャッシュ</a:t>
            </a:r>
            <a:endParaRPr lang="en-US" sz="1250" dirty="0"/>
          </a:p>
        </p:txBody>
      </p:sp>
      <p:sp>
        <p:nvSpPr>
          <p:cNvPr id="11" name="Shape 8"/>
          <p:cNvSpPr/>
          <p:nvPr/>
        </p:nvSpPr>
        <p:spPr>
          <a:xfrm>
            <a:off x="4343400" y="2971800"/>
            <a:ext cx="3474720" cy="3246120"/>
          </a:xfrm>
          <a:prstGeom prst="roundRect">
            <a:avLst>
              <a:gd name="adj" fmla="val 2817"/>
            </a:avLst>
          </a:prstGeom>
          <a:solidFill>
            <a:srgbClr val="F4F6FB"/>
          </a:solidFill>
          <a:ln/>
          <a:effectLst>
            <a:outerShdw sx="100000" sy="100000" kx="0" ky="0" algn="bl" rotWithShape="0" blurRad="101600" dist="38100" dir="5400000">
              <a:srgbClr val="1E2761">
                <a:alpha val="18000"/>
              </a:srgbClr>
            </a:outerShdw>
          </a:effectLst>
        </p:spPr>
      </p:sp>
      <p:sp>
        <p:nvSpPr>
          <p:cNvPr id="12" name="Shape 9"/>
          <p:cNvSpPr/>
          <p:nvPr/>
        </p:nvSpPr>
        <p:spPr>
          <a:xfrm>
            <a:off x="4663440" y="3291840"/>
            <a:ext cx="731520" cy="731520"/>
          </a:xfrm>
          <a:prstGeom prst="ellipse">
            <a:avLst/>
          </a:prstGeom>
          <a:solidFill>
            <a:srgbClr val="FFFFFF"/>
          </a:solidFill>
          <a:ln/>
        </p:spPr>
      </p:sp>
      <p:pic>
        <p:nvPicPr>
          <p:cNvPr id="13" name="Image 1" descr="/home/claude/kiminoaniwa_ppt/icons/ov_star.png">    </p:cNvPr>
          <p:cNvPicPr>
            <a:picLocks noChangeAspect="1"/>
          </p:cNvPicPr>
          <p:nvPr/>
        </p:nvPicPr>
        <p:blipFill>
          <a:blip r:embed="rId2"/>
          <a:stretch>
            <a:fillRect/>
          </a:stretch>
        </p:blipFill>
        <p:spPr>
          <a:xfrm>
            <a:off x="4846320" y="3474720"/>
            <a:ext cx="365760" cy="365760"/>
          </a:xfrm>
          <a:prstGeom prst="rect">
            <a:avLst/>
          </a:prstGeom>
        </p:spPr>
      </p:pic>
      <p:sp>
        <p:nvSpPr>
          <p:cNvPr id="14" name="Text 10"/>
          <p:cNvSpPr/>
          <p:nvPr/>
        </p:nvSpPr>
        <p:spPr>
          <a:xfrm>
            <a:off x="4663440" y="4160520"/>
            <a:ext cx="2834640" cy="36576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独自ランキング</a:t>
            </a:r>
            <a:endParaRPr lang="en-US" sz="1700" dirty="0"/>
          </a:p>
        </p:txBody>
      </p:sp>
      <p:sp>
        <p:nvSpPr>
          <p:cNvPr id="15" name="Text 11"/>
          <p:cNvSpPr/>
          <p:nvPr/>
        </p:nvSpPr>
        <p:spPr>
          <a:xfrm>
            <a:off x="4663440" y="4572000"/>
            <a:ext cx="2834640" cy="1463040"/>
          </a:xfrm>
          <a:prstGeom prst="rect">
            <a:avLst/>
          </a:prstGeom>
          <a:noFill/>
          <a:ln/>
        </p:spPr>
        <p:txBody>
          <a:bodyPr wrap="square" rtlCol="0" anchor="ctr"/>
          <a:lstStyle/>
          <a:p>
            <a:pPr indent="0" marL="0">
              <a:lnSpc>
                <a:spcPct val="120000"/>
              </a:lnSpc>
              <a:buNone/>
            </a:pPr>
            <a:r>
              <a:rPr lang="en-US" sz="1250" dirty="0">
                <a:solidFill>
                  <a:srgbClr val="5B6478"/>
                </a:solidFill>
                <a:latin typeface="Calibri" pitchFamily="34" charset="0"/>
                <a:ea typeface="Calibri" pitchFamily="34" charset="-122"/>
                <a:cs typeface="Calibri" pitchFamily="34" charset="-120"/>
              </a:rPr>
              <a:t>AniListの人気度・評価は参考情報として表示するのみ。ランキングの並び替えは自社のレビュー・評価データのみで計算</a:t>
            </a:r>
            <a:endParaRPr lang="en-US" sz="1250" dirty="0"/>
          </a:p>
        </p:txBody>
      </p:sp>
      <p:sp>
        <p:nvSpPr>
          <p:cNvPr id="16" name="Shape 12"/>
          <p:cNvSpPr/>
          <p:nvPr/>
        </p:nvSpPr>
        <p:spPr>
          <a:xfrm>
            <a:off x="8138160" y="2971800"/>
            <a:ext cx="3474720" cy="3246120"/>
          </a:xfrm>
          <a:prstGeom prst="roundRect">
            <a:avLst>
              <a:gd name="adj" fmla="val 2817"/>
            </a:avLst>
          </a:prstGeom>
          <a:solidFill>
            <a:srgbClr val="F4F6FB"/>
          </a:solidFill>
          <a:ln/>
          <a:effectLst>
            <a:outerShdw sx="100000" sy="100000" kx="0" ky="0" algn="bl" rotWithShape="0" blurRad="101600" dist="38100" dir="5400000">
              <a:srgbClr val="1E2761">
                <a:alpha val="18000"/>
              </a:srgbClr>
            </a:outerShdw>
          </a:effectLst>
        </p:spPr>
      </p:sp>
      <p:sp>
        <p:nvSpPr>
          <p:cNvPr id="17" name="Shape 13"/>
          <p:cNvSpPr/>
          <p:nvPr/>
        </p:nvSpPr>
        <p:spPr>
          <a:xfrm>
            <a:off x="8458200" y="3291840"/>
            <a:ext cx="731520" cy="731520"/>
          </a:xfrm>
          <a:prstGeom prst="ellipse">
            <a:avLst/>
          </a:prstGeom>
          <a:solidFill>
            <a:srgbClr val="FFFFFF"/>
          </a:solidFill>
          <a:ln/>
        </p:spPr>
      </p:sp>
      <p:pic>
        <p:nvPicPr>
          <p:cNvPr id="18" name="Image 2" descr="/home/claude/kiminoaniwa_ppt/icons/ov_bot.png">    </p:cNvPr>
          <p:cNvPicPr>
            <a:picLocks noChangeAspect="1"/>
          </p:cNvPicPr>
          <p:nvPr/>
        </p:nvPicPr>
        <p:blipFill>
          <a:blip r:embed="rId3"/>
          <a:stretch>
            <a:fillRect/>
          </a:stretch>
        </p:blipFill>
        <p:spPr>
          <a:xfrm>
            <a:off x="8641080" y="3474720"/>
            <a:ext cx="365760" cy="365760"/>
          </a:xfrm>
          <a:prstGeom prst="rect">
            <a:avLst/>
          </a:prstGeom>
        </p:spPr>
      </p:pic>
      <p:sp>
        <p:nvSpPr>
          <p:cNvPr id="19" name="Text 14"/>
          <p:cNvSpPr/>
          <p:nvPr/>
        </p:nvSpPr>
        <p:spPr>
          <a:xfrm>
            <a:off x="8458200" y="4160520"/>
            <a:ext cx="2834640" cy="365760"/>
          </a:xfrm>
          <a:prstGeom prst="rect">
            <a:avLst/>
          </a:prstGeom>
          <a:noFill/>
          <a:ln/>
        </p:spPr>
        <p:txBody>
          <a:bodyPr wrap="square"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AIキュレーション</a:t>
            </a:r>
            <a:endParaRPr lang="en-US" sz="1700" dirty="0"/>
          </a:p>
        </p:txBody>
      </p:sp>
      <p:sp>
        <p:nvSpPr>
          <p:cNvPr id="20" name="Text 15"/>
          <p:cNvSpPr/>
          <p:nvPr/>
        </p:nvSpPr>
        <p:spPr>
          <a:xfrm>
            <a:off x="8458200" y="4572000"/>
            <a:ext cx="2834640" cy="1463040"/>
          </a:xfrm>
          <a:prstGeom prst="rect">
            <a:avLst/>
          </a:prstGeom>
          <a:noFill/>
          <a:ln/>
        </p:spPr>
        <p:txBody>
          <a:bodyPr wrap="square" rtlCol="0" anchor="ctr"/>
          <a:lstStyle/>
          <a:p>
            <a:pPr indent="0" marL="0">
              <a:lnSpc>
                <a:spcPct val="120000"/>
              </a:lnSpc>
              <a:buNone/>
            </a:pPr>
            <a:r>
              <a:rPr lang="en-US" sz="1250" dirty="0">
                <a:solidFill>
                  <a:srgbClr val="5B6478"/>
                </a:solidFill>
                <a:latin typeface="Calibri" pitchFamily="34" charset="0"/>
                <a:ea typeface="Calibri" pitchFamily="34" charset="-122"/>
                <a:cs typeface="Calibri" pitchFamily="34" charset="-120"/>
              </a:rPr>
              <a:t>Claude APIで自然言語検索・チャットボット推薦・レビュー要約・おすすめ理由生成までを支援</a:t>
            </a:r>
            <a:endParaRPr lang="en-US" sz="1250" dirty="0"/>
          </a:p>
        </p:txBody>
      </p:sp>
      <p:sp>
        <p:nvSpPr>
          <p:cNvPr id="21" name="Text 1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02</a:t>
            </a:r>
            <a:endParaRPr lang="en-US" sz="1000" dirty="0"/>
          </a:p>
        </p:txBody>
      </p:sp>
      <p:sp>
        <p:nvSpPr>
          <p:cNvPr id="22" name="Text 17"/>
          <p:cNvSpPr/>
          <p:nvPr/>
        </p:nvSpPr>
        <p:spPr>
          <a:xfrm>
            <a:off x="548640" y="6400800"/>
            <a:ext cx="4572000" cy="274320"/>
          </a:xfrm>
          <a:prstGeom prst="rect">
            <a:avLst/>
          </a:prstGeom>
          <a:noFill/>
          <a:ln/>
        </p:spPr>
        <p:txBody>
          <a:bodyPr wrap="square" rtlCol="0" anchor="ctr"/>
          <a:lstStyle/>
          <a:p>
            <a:pPr indent="0" marL="0">
              <a:buNone/>
            </a:pPr>
            <a:r>
              <a:rPr lang="en-US" sz="1000" spc="100" kern="0" dirty="0">
                <a:solidFill>
                  <a:srgbClr val="8B93A7"/>
                </a:solidFill>
                <a:latin typeface="Calibri" pitchFamily="34" charset="0"/>
                <a:ea typeface="Calibri" pitchFamily="34" charset="-122"/>
                <a:cs typeface="Calibri" pitchFamily="34" charset="-120"/>
              </a:rPr>
              <a:t>KIMINO NO ANIME WA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E8433B"/>
                </a:solidFill>
                <a:latin typeface="Calibri" pitchFamily="34" charset="0"/>
                <a:ea typeface="Calibri" pitchFamily="34" charset="-122"/>
                <a:cs typeface="Calibri" pitchFamily="34" charset="-120"/>
              </a:rPr>
              <a:t>DEVELOPMENT ENVIRONMENT</a:t>
            </a:r>
            <a:endParaRPr lang="en-US" sz="1200" dirty="0"/>
          </a:p>
        </p:txBody>
      </p:sp>
      <p:sp>
        <p:nvSpPr>
          <p:cNvPr id="3" name="Text 1"/>
          <p:cNvSpPr/>
          <p:nvPr/>
        </p:nvSpPr>
        <p:spPr>
          <a:xfrm>
            <a:off x="548640" y="594360"/>
            <a:ext cx="91440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開発環境</a:t>
            </a:r>
            <a:endParaRPr lang="en-US" sz="3200" dirty="0"/>
          </a:p>
        </p:txBody>
      </p:sp>
      <p:sp>
        <p:nvSpPr>
          <p:cNvPr id="4" name="Shape 2"/>
          <p:cNvSpPr/>
          <p:nvPr/>
        </p:nvSpPr>
        <p:spPr>
          <a:xfrm>
            <a:off x="548640" y="1691640"/>
            <a:ext cx="3493008" cy="1911096"/>
          </a:xfrm>
          <a:prstGeom prst="roundRect">
            <a:avLst>
              <a:gd name="adj" fmla="val 4785"/>
            </a:avLst>
          </a:prstGeom>
          <a:solidFill>
            <a:srgbClr val="F4F6FB"/>
          </a:solidFill>
          <a:ln/>
          <a:effectLst>
            <a:outerShdw sx="100000" sy="100000" kx="0" ky="0" algn="bl" rotWithShape="0" blurRad="101600" dist="38100" dir="5400000">
              <a:srgbClr val="1E2761">
                <a:alpha val="18000"/>
              </a:srgbClr>
            </a:outerShdw>
          </a:effectLst>
        </p:spPr>
      </p:sp>
      <p:sp>
        <p:nvSpPr>
          <p:cNvPr id="5" name="Shape 3"/>
          <p:cNvSpPr/>
          <p:nvPr/>
        </p:nvSpPr>
        <p:spPr>
          <a:xfrm>
            <a:off x="822960" y="1965960"/>
            <a:ext cx="658368" cy="658368"/>
          </a:xfrm>
          <a:prstGeom prst="ellipse">
            <a:avLst/>
          </a:prstGeom>
          <a:solidFill>
            <a:srgbClr val="FFFFFF"/>
          </a:solidFill>
          <a:ln/>
        </p:spPr>
      </p:sp>
      <p:pic>
        <p:nvPicPr>
          <p:cNvPr id="6" name="Image 0" descr="/home/claude/kiminoaniwa_ppt/icons/dev_frontend.png">    </p:cNvPr>
          <p:cNvPicPr>
            <a:picLocks noChangeAspect="1"/>
          </p:cNvPicPr>
          <p:nvPr/>
        </p:nvPicPr>
        <p:blipFill>
          <a:blip r:embed="rId1"/>
          <a:stretch>
            <a:fillRect/>
          </a:stretch>
        </p:blipFill>
        <p:spPr>
          <a:xfrm>
            <a:off x="987552" y="2130552"/>
            <a:ext cx="329184" cy="329184"/>
          </a:xfrm>
          <a:prstGeom prst="rect">
            <a:avLst/>
          </a:prstGeom>
        </p:spPr>
      </p:pic>
      <p:sp>
        <p:nvSpPr>
          <p:cNvPr id="7" name="Text 4"/>
          <p:cNvSpPr/>
          <p:nvPr/>
        </p:nvSpPr>
        <p:spPr>
          <a:xfrm>
            <a:off x="1645920" y="2002536"/>
            <a:ext cx="2121408" cy="502920"/>
          </a:xfrm>
          <a:prstGeom prst="rect">
            <a:avLst/>
          </a:prstGeom>
          <a:noFill/>
          <a:ln/>
        </p:spPr>
        <p:txBody>
          <a:bodyPr wrap="square" rtlCol="0" anchor="ctr"/>
          <a:lstStyle/>
          <a:p>
            <a:pPr indent="0" marL="0">
              <a:lnSpc>
                <a:spcPct val="105000"/>
              </a:lnSpc>
              <a:buNone/>
            </a:pPr>
            <a:r>
              <a:rPr lang="en-US" sz="1400" b="1" dirty="0">
                <a:solidFill>
                  <a:srgbClr val="1E2761"/>
                </a:solidFill>
                <a:latin typeface="Cambria" pitchFamily="34" charset="0"/>
                <a:ea typeface="Cambria" pitchFamily="34" charset="-122"/>
                <a:cs typeface="Cambria" pitchFamily="34" charset="-120"/>
              </a:rPr>
              <a:t>フロントエンド / バックエンド</a:t>
            </a:r>
            <a:endParaRPr lang="en-US" sz="1400" dirty="0"/>
          </a:p>
        </p:txBody>
      </p:sp>
      <p:sp>
        <p:nvSpPr>
          <p:cNvPr id="8" name="Text 5"/>
          <p:cNvSpPr/>
          <p:nvPr/>
        </p:nvSpPr>
        <p:spPr>
          <a:xfrm>
            <a:off x="822960" y="2743200"/>
            <a:ext cx="2944368" cy="676656"/>
          </a:xfrm>
          <a:prstGeom prst="rect">
            <a:avLst/>
          </a:prstGeom>
          <a:noFill/>
          <a:ln/>
        </p:spPr>
        <p:txBody>
          <a:bodyPr wrap="square" rtlCol="0" anchor="ctr"/>
          <a:lstStyle/>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Next.js 16 (TypeScript · App Router)</a:t>
            </a:r>
            <a:endParaRPr lang="en-US" sz="1200" dirty="0"/>
          </a:p>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React 19</a:t>
            </a:r>
            <a:endParaRPr lang="en-US" sz="1200" dirty="0"/>
          </a:p>
        </p:txBody>
      </p:sp>
      <p:sp>
        <p:nvSpPr>
          <p:cNvPr id="9" name="Shape 6"/>
          <p:cNvSpPr/>
          <p:nvPr/>
        </p:nvSpPr>
        <p:spPr>
          <a:xfrm>
            <a:off x="4334256" y="1691640"/>
            <a:ext cx="3493008" cy="1911096"/>
          </a:xfrm>
          <a:prstGeom prst="roundRect">
            <a:avLst>
              <a:gd name="adj" fmla="val 4785"/>
            </a:avLst>
          </a:prstGeom>
          <a:solidFill>
            <a:srgbClr val="F4F6FB"/>
          </a:solidFill>
          <a:ln/>
          <a:effectLst>
            <a:outerShdw sx="100000" sy="100000" kx="0" ky="0" algn="bl" rotWithShape="0" blurRad="101600" dist="38100" dir="5400000">
              <a:srgbClr val="1E2761">
                <a:alpha val="18000"/>
              </a:srgbClr>
            </a:outerShdw>
          </a:effectLst>
        </p:spPr>
      </p:sp>
      <p:sp>
        <p:nvSpPr>
          <p:cNvPr id="10" name="Shape 7"/>
          <p:cNvSpPr/>
          <p:nvPr/>
        </p:nvSpPr>
        <p:spPr>
          <a:xfrm>
            <a:off x="4608576" y="1965960"/>
            <a:ext cx="658368" cy="658368"/>
          </a:xfrm>
          <a:prstGeom prst="ellipse">
            <a:avLst/>
          </a:prstGeom>
          <a:solidFill>
            <a:srgbClr val="FFFFFF"/>
          </a:solidFill>
          <a:ln/>
        </p:spPr>
      </p:sp>
      <p:pic>
        <p:nvPicPr>
          <p:cNvPr id="11" name="Image 1" descr="/home/claude/kiminoaniwa_ppt/icons/dev_backend.png">    </p:cNvPr>
          <p:cNvPicPr>
            <a:picLocks noChangeAspect="1"/>
          </p:cNvPicPr>
          <p:nvPr/>
        </p:nvPicPr>
        <p:blipFill>
          <a:blip r:embed="rId2"/>
          <a:stretch>
            <a:fillRect/>
          </a:stretch>
        </p:blipFill>
        <p:spPr>
          <a:xfrm>
            <a:off x="4773168" y="2130552"/>
            <a:ext cx="329184" cy="329184"/>
          </a:xfrm>
          <a:prstGeom prst="rect">
            <a:avLst/>
          </a:prstGeom>
        </p:spPr>
      </p:pic>
      <p:sp>
        <p:nvSpPr>
          <p:cNvPr id="12" name="Text 8"/>
          <p:cNvSpPr/>
          <p:nvPr/>
        </p:nvSpPr>
        <p:spPr>
          <a:xfrm>
            <a:off x="5431536" y="2002536"/>
            <a:ext cx="2121408" cy="502920"/>
          </a:xfrm>
          <a:prstGeom prst="rect">
            <a:avLst/>
          </a:prstGeom>
          <a:noFill/>
          <a:ln/>
        </p:spPr>
        <p:txBody>
          <a:bodyPr wrap="square" rtlCol="0" anchor="ctr"/>
          <a:lstStyle/>
          <a:p>
            <a:pPr indent="0" marL="0">
              <a:lnSpc>
                <a:spcPct val="105000"/>
              </a:lnSpc>
              <a:buNone/>
            </a:pPr>
            <a:r>
              <a:rPr lang="en-US" sz="1400" b="1" dirty="0">
                <a:solidFill>
                  <a:srgbClr val="1E2761"/>
                </a:solidFill>
                <a:latin typeface="Cambria" pitchFamily="34" charset="0"/>
                <a:ea typeface="Cambria" pitchFamily="34" charset="-122"/>
                <a:cs typeface="Cambria" pitchFamily="34" charset="-120"/>
              </a:rPr>
              <a:t>スタイリング / UI</a:t>
            </a:r>
            <a:endParaRPr lang="en-US" sz="1400" dirty="0"/>
          </a:p>
        </p:txBody>
      </p:sp>
      <p:sp>
        <p:nvSpPr>
          <p:cNvPr id="13" name="Text 9"/>
          <p:cNvSpPr/>
          <p:nvPr/>
        </p:nvSpPr>
        <p:spPr>
          <a:xfrm>
            <a:off x="4608576" y="2743200"/>
            <a:ext cx="2944368" cy="676656"/>
          </a:xfrm>
          <a:prstGeom prst="rect">
            <a:avLst/>
          </a:prstGeom>
          <a:noFill/>
          <a:ln/>
        </p:spPr>
        <p:txBody>
          <a:bodyPr wrap="square" rtlCol="0" anchor="ctr"/>
          <a:lstStyle/>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Tailwind CSS v4 (デザイントークン)</a:t>
            </a:r>
            <a:endParaRPr lang="en-US" sz="1200" dirty="0"/>
          </a:p>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lucide-react アイコン</a:t>
            </a:r>
            <a:endParaRPr lang="en-US" sz="1200" dirty="0"/>
          </a:p>
        </p:txBody>
      </p:sp>
      <p:sp>
        <p:nvSpPr>
          <p:cNvPr id="14" name="Shape 10"/>
          <p:cNvSpPr/>
          <p:nvPr/>
        </p:nvSpPr>
        <p:spPr>
          <a:xfrm>
            <a:off x="8119872" y="1691640"/>
            <a:ext cx="3493008" cy="1911096"/>
          </a:xfrm>
          <a:prstGeom prst="roundRect">
            <a:avLst>
              <a:gd name="adj" fmla="val 4785"/>
            </a:avLst>
          </a:prstGeom>
          <a:solidFill>
            <a:srgbClr val="F4F6FB"/>
          </a:solidFill>
          <a:ln/>
          <a:effectLst>
            <a:outerShdw sx="100000" sy="100000" kx="0" ky="0" algn="bl" rotWithShape="0" blurRad="101600" dist="38100" dir="5400000">
              <a:srgbClr val="1E2761">
                <a:alpha val="18000"/>
              </a:srgbClr>
            </a:outerShdw>
          </a:effectLst>
        </p:spPr>
      </p:sp>
      <p:sp>
        <p:nvSpPr>
          <p:cNvPr id="15" name="Shape 11"/>
          <p:cNvSpPr/>
          <p:nvPr/>
        </p:nvSpPr>
        <p:spPr>
          <a:xfrm>
            <a:off x="8394192" y="1965960"/>
            <a:ext cx="658368" cy="658368"/>
          </a:xfrm>
          <a:prstGeom prst="ellipse">
            <a:avLst/>
          </a:prstGeom>
          <a:solidFill>
            <a:srgbClr val="FFFFFF"/>
          </a:solidFill>
          <a:ln/>
        </p:spPr>
      </p:sp>
      <p:pic>
        <p:nvPicPr>
          <p:cNvPr id="16" name="Image 2" descr="/home/claude/kiminoaniwa_ppt/icons/dev_db.png">    </p:cNvPr>
          <p:cNvPicPr>
            <a:picLocks noChangeAspect="1"/>
          </p:cNvPicPr>
          <p:nvPr/>
        </p:nvPicPr>
        <p:blipFill>
          <a:blip r:embed="rId3"/>
          <a:stretch>
            <a:fillRect/>
          </a:stretch>
        </p:blipFill>
        <p:spPr>
          <a:xfrm>
            <a:off x="8558784" y="2130552"/>
            <a:ext cx="329184" cy="329184"/>
          </a:xfrm>
          <a:prstGeom prst="rect">
            <a:avLst/>
          </a:prstGeom>
        </p:spPr>
      </p:pic>
      <p:sp>
        <p:nvSpPr>
          <p:cNvPr id="17" name="Text 12"/>
          <p:cNvSpPr/>
          <p:nvPr/>
        </p:nvSpPr>
        <p:spPr>
          <a:xfrm>
            <a:off x="9217152" y="2002536"/>
            <a:ext cx="2121408" cy="502920"/>
          </a:xfrm>
          <a:prstGeom prst="rect">
            <a:avLst/>
          </a:prstGeom>
          <a:noFill/>
          <a:ln/>
        </p:spPr>
        <p:txBody>
          <a:bodyPr wrap="square" rtlCol="0" anchor="ctr"/>
          <a:lstStyle/>
          <a:p>
            <a:pPr indent="0" marL="0">
              <a:lnSpc>
                <a:spcPct val="105000"/>
              </a:lnSpc>
              <a:buNone/>
            </a:pPr>
            <a:r>
              <a:rPr lang="en-US" sz="1400" b="1" dirty="0">
                <a:solidFill>
                  <a:srgbClr val="1E2761"/>
                </a:solidFill>
                <a:latin typeface="Cambria" pitchFamily="34" charset="0"/>
                <a:ea typeface="Cambria" pitchFamily="34" charset="-122"/>
                <a:cs typeface="Cambria" pitchFamily="34" charset="-120"/>
              </a:rPr>
              <a:t>データベース</a:t>
            </a:r>
            <a:endParaRPr lang="en-US" sz="1400" dirty="0"/>
          </a:p>
        </p:txBody>
      </p:sp>
      <p:sp>
        <p:nvSpPr>
          <p:cNvPr id="18" name="Text 13"/>
          <p:cNvSpPr/>
          <p:nvPr/>
        </p:nvSpPr>
        <p:spPr>
          <a:xfrm>
            <a:off x="8394192" y="2743200"/>
            <a:ext cx="2944368" cy="676656"/>
          </a:xfrm>
          <a:prstGeom prst="rect">
            <a:avLst/>
          </a:prstGeom>
          <a:noFill/>
          <a:ln/>
        </p:spPr>
        <p:txBody>
          <a:bodyPr wrap="square" rtlCol="0" anchor="ctr"/>
          <a:lstStyle/>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PostgreSQL</a:t>
            </a:r>
            <a:endParaRPr lang="en-US" sz="1200" dirty="0"/>
          </a:p>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Prisma 7 (ORM)</a:t>
            </a:r>
            <a:endParaRPr lang="en-US" sz="1200" dirty="0"/>
          </a:p>
        </p:txBody>
      </p:sp>
      <p:sp>
        <p:nvSpPr>
          <p:cNvPr id="19" name="Shape 14"/>
          <p:cNvSpPr/>
          <p:nvPr/>
        </p:nvSpPr>
        <p:spPr>
          <a:xfrm>
            <a:off x="548640" y="3895344"/>
            <a:ext cx="3493008" cy="1911096"/>
          </a:xfrm>
          <a:prstGeom prst="roundRect">
            <a:avLst>
              <a:gd name="adj" fmla="val 4785"/>
            </a:avLst>
          </a:prstGeom>
          <a:solidFill>
            <a:srgbClr val="F4F6FB"/>
          </a:solidFill>
          <a:ln/>
          <a:effectLst>
            <a:outerShdw sx="100000" sy="100000" kx="0" ky="0" algn="bl" rotWithShape="0" blurRad="101600" dist="38100" dir="5400000">
              <a:srgbClr val="1E2761">
                <a:alpha val="18000"/>
              </a:srgbClr>
            </a:outerShdw>
          </a:effectLst>
        </p:spPr>
      </p:sp>
      <p:sp>
        <p:nvSpPr>
          <p:cNvPr id="20" name="Shape 15"/>
          <p:cNvSpPr/>
          <p:nvPr/>
        </p:nvSpPr>
        <p:spPr>
          <a:xfrm>
            <a:off x="822960" y="4169664"/>
            <a:ext cx="658368" cy="658368"/>
          </a:xfrm>
          <a:prstGeom prst="ellipse">
            <a:avLst/>
          </a:prstGeom>
          <a:solidFill>
            <a:srgbClr val="FFFFFF"/>
          </a:solidFill>
          <a:ln/>
        </p:spPr>
      </p:sp>
      <p:pic>
        <p:nvPicPr>
          <p:cNvPr id="21" name="Image 3" descr="/home/claude/kiminoaniwa_ppt/icons/dev_auth.png">    </p:cNvPr>
          <p:cNvPicPr>
            <a:picLocks noChangeAspect="1"/>
          </p:cNvPicPr>
          <p:nvPr/>
        </p:nvPicPr>
        <p:blipFill>
          <a:blip r:embed="rId4"/>
          <a:stretch>
            <a:fillRect/>
          </a:stretch>
        </p:blipFill>
        <p:spPr>
          <a:xfrm>
            <a:off x="987552" y="4334256"/>
            <a:ext cx="329184" cy="329184"/>
          </a:xfrm>
          <a:prstGeom prst="rect">
            <a:avLst/>
          </a:prstGeom>
        </p:spPr>
      </p:pic>
      <p:sp>
        <p:nvSpPr>
          <p:cNvPr id="22" name="Text 16"/>
          <p:cNvSpPr/>
          <p:nvPr/>
        </p:nvSpPr>
        <p:spPr>
          <a:xfrm>
            <a:off x="1645920" y="4206240"/>
            <a:ext cx="2121408" cy="502920"/>
          </a:xfrm>
          <a:prstGeom prst="rect">
            <a:avLst/>
          </a:prstGeom>
          <a:noFill/>
          <a:ln/>
        </p:spPr>
        <p:txBody>
          <a:bodyPr wrap="square" rtlCol="0" anchor="ctr"/>
          <a:lstStyle/>
          <a:p>
            <a:pPr indent="0" marL="0">
              <a:lnSpc>
                <a:spcPct val="105000"/>
              </a:lnSpc>
              <a:buNone/>
            </a:pPr>
            <a:r>
              <a:rPr lang="en-US" sz="1400" b="1" dirty="0">
                <a:solidFill>
                  <a:srgbClr val="1E2761"/>
                </a:solidFill>
                <a:latin typeface="Cambria" pitchFamily="34" charset="0"/>
                <a:ea typeface="Cambria" pitchFamily="34" charset="-122"/>
                <a:cs typeface="Cambria" pitchFamily="34" charset="-120"/>
              </a:rPr>
              <a:t>認証</a:t>
            </a:r>
            <a:endParaRPr lang="en-US" sz="1400" dirty="0"/>
          </a:p>
        </p:txBody>
      </p:sp>
      <p:sp>
        <p:nvSpPr>
          <p:cNvPr id="23" name="Text 17"/>
          <p:cNvSpPr/>
          <p:nvPr/>
        </p:nvSpPr>
        <p:spPr>
          <a:xfrm>
            <a:off x="822960" y="4946904"/>
            <a:ext cx="2944368" cy="676656"/>
          </a:xfrm>
          <a:prstGeom prst="rect">
            <a:avLst/>
          </a:prstGeom>
          <a:noFill/>
          <a:ln/>
        </p:spPr>
        <p:txBody>
          <a:bodyPr wrap="square" rtlCol="0" anchor="ctr"/>
          <a:lstStyle/>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メール + パスワードによる自前認証</a:t>
            </a:r>
            <a:endParaRPr lang="en-US" sz="1200" dirty="0"/>
          </a:p>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bcryptjs ハッシュ · JWT(jose)</a:t>
            </a:r>
            <a:endParaRPr lang="en-US" sz="1200" dirty="0"/>
          </a:p>
        </p:txBody>
      </p:sp>
      <p:sp>
        <p:nvSpPr>
          <p:cNvPr id="24" name="Shape 18"/>
          <p:cNvSpPr/>
          <p:nvPr/>
        </p:nvSpPr>
        <p:spPr>
          <a:xfrm>
            <a:off x="4334256" y="3895344"/>
            <a:ext cx="3493008" cy="1911096"/>
          </a:xfrm>
          <a:prstGeom prst="roundRect">
            <a:avLst>
              <a:gd name="adj" fmla="val 4785"/>
            </a:avLst>
          </a:prstGeom>
          <a:solidFill>
            <a:srgbClr val="F4F6FB"/>
          </a:solidFill>
          <a:ln/>
          <a:effectLst>
            <a:outerShdw sx="100000" sy="100000" kx="0" ky="0" algn="bl" rotWithShape="0" blurRad="101600" dist="38100" dir="5400000">
              <a:srgbClr val="1E2761">
                <a:alpha val="18000"/>
              </a:srgbClr>
            </a:outerShdw>
          </a:effectLst>
        </p:spPr>
      </p:sp>
      <p:sp>
        <p:nvSpPr>
          <p:cNvPr id="25" name="Shape 19"/>
          <p:cNvSpPr/>
          <p:nvPr/>
        </p:nvSpPr>
        <p:spPr>
          <a:xfrm>
            <a:off x="4608576" y="4169664"/>
            <a:ext cx="658368" cy="658368"/>
          </a:xfrm>
          <a:prstGeom prst="ellipse">
            <a:avLst/>
          </a:prstGeom>
          <a:solidFill>
            <a:srgbClr val="FFFFFF"/>
          </a:solidFill>
          <a:ln/>
        </p:spPr>
      </p:sp>
      <p:pic>
        <p:nvPicPr>
          <p:cNvPr id="26" name="Image 4" descr="/home/claude/kiminoaniwa_ppt/icons/dev_ai.png">    </p:cNvPr>
          <p:cNvPicPr>
            <a:picLocks noChangeAspect="1"/>
          </p:cNvPicPr>
          <p:nvPr/>
        </p:nvPicPr>
        <p:blipFill>
          <a:blip r:embed="rId5"/>
          <a:stretch>
            <a:fillRect/>
          </a:stretch>
        </p:blipFill>
        <p:spPr>
          <a:xfrm>
            <a:off x="4773168" y="4334256"/>
            <a:ext cx="329184" cy="329184"/>
          </a:xfrm>
          <a:prstGeom prst="rect">
            <a:avLst/>
          </a:prstGeom>
        </p:spPr>
      </p:pic>
      <p:sp>
        <p:nvSpPr>
          <p:cNvPr id="27" name="Text 20"/>
          <p:cNvSpPr/>
          <p:nvPr/>
        </p:nvSpPr>
        <p:spPr>
          <a:xfrm>
            <a:off x="5431536" y="4206240"/>
            <a:ext cx="2121408" cy="502920"/>
          </a:xfrm>
          <a:prstGeom prst="rect">
            <a:avLst/>
          </a:prstGeom>
          <a:noFill/>
          <a:ln/>
        </p:spPr>
        <p:txBody>
          <a:bodyPr wrap="square" rtlCol="0" anchor="ctr"/>
          <a:lstStyle/>
          <a:p>
            <a:pPr indent="0" marL="0">
              <a:lnSpc>
                <a:spcPct val="105000"/>
              </a:lnSpc>
              <a:buNone/>
            </a:pPr>
            <a:r>
              <a:rPr lang="en-US" sz="1400" b="1" dirty="0">
                <a:solidFill>
                  <a:srgbClr val="1E2761"/>
                </a:solidFill>
                <a:latin typeface="Cambria" pitchFamily="34" charset="0"/>
                <a:ea typeface="Cambria" pitchFamily="34" charset="-122"/>
                <a:cs typeface="Cambria" pitchFamily="34" charset="-120"/>
              </a:rPr>
              <a:t>AI / 外部データ</a:t>
            </a:r>
            <a:endParaRPr lang="en-US" sz="1400" dirty="0"/>
          </a:p>
        </p:txBody>
      </p:sp>
      <p:sp>
        <p:nvSpPr>
          <p:cNvPr id="28" name="Text 21"/>
          <p:cNvSpPr/>
          <p:nvPr/>
        </p:nvSpPr>
        <p:spPr>
          <a:xfrm>
            <a:off x="4608576" y="4946904"/>
            <a:ext cx="2944368" cy="676656"/>
          </a:xfrm>
          <a:prstGeom prst="rect">
            <a:avLst/>
          </a:prstGeom>
          <a:noFill/>
          <a:ln/>
        </p:spPr>
        <p:txBody>
          <a:bodyPr wrap="square" rtlCol="0" anchor="ctr"/>
          <a:lstStyle/>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Anthropic Claude API</a:t>
            </a:r>
            <a:endParaRPr lang="en-US" sz="1200" dirty="0"/>
          </a:p>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AniList GraphQL API</a:t>
            </a:r>
            <a:endParaRPr lang="en-US" sz="1200" dirty="0"/>
          </a:p>
        </p:txBody>
      </p:sp>
      <p:sp>
        <p:nvSpPr>
          <p:cNvPr id="29" name="Shape 22"/>
          <p:cNvSpPr/>
          <p:nvPr/>
        </p:nvSpPr>
        <p:spPr>
          <a:xfrm>
            <a:off x="8119872" y="3895344"/>
            <a:ext cx="3493008" cy="1911096"/>
          </a:xfrm>
          <a:prstGeom prst="roundRect">
            <a:avLst>
              <a:gd name="adj" fmla="val 4785"/>
            </a:avLst>
          </a:prstGeom>
          <a:solidFill>
            <a:srgbClr val="F4F6FB"/>
          </a:solidFill>
          <a:ln/>
          <a:effectLst>
            <a:outerShdw sx="100000" sy="100000" kx="0" ky="0" algn="bl" rotWithShape="0" blurRad="101600" dist="38100" dir="5400000">
              <a:srgbClr val="1E2761">
                <a:alpha val="18000"/>
              </a:srgbClr>
            </a:outerShdw>
          </a:effectLst>
        </p:spPr>
      </p:sp>
      <p:sp>
        <p:nvSpPr>
          <p:cNvPr id="30" name="Shape 23"/>
          <p:cNvSpPr/>
          <p:nvPr/>
        </p:nvSpPr>
        <p:spPr>
          <a:xfrm>
            <a:off x="8394192" y="4169664"/>
            <a:ext cx="658368" cy="658368"/>
          </a:xfrm>
          <a:prstGeom prst="ellipse">
            <a:avLst/>
          </a:prstGeom>
          <a:solidFill>
            <a:srgbClr val="FFFFFF"/>
          </a:solidFill>
          <a:ln/>
        </p:spPr>
      </p:sp>
      <p:pic>
        <p:nvPicPr>
          <p:cNvPr id="31" name="Image 5" descr="/home/claude/kiminoaniwa_ppt/icons/dev_infra.png">    </p:cNvPr>
          <p:cNvPicPr>
            <a:picLocks noChangeAspect="1"/>
          </p:cNvPicPr>
          <p:nvPr/>
        </p:nvPicPr>
        <p:blipFill>
          <a:blip r:embed="rId6"/>
          <a:stretch>
            <a:fillRect/>
          </a:stretch>
        </p:blipFill>
        <p:spPr>
          <a:xfrm>
            <a:off x="8558784" y="4334256"/>
            <a:ext cx="329184" cy="329184"/>
          </a:xfrm>
          <a:prstGeom prst="rect">
            <a:avLst/>
          </a:prstGeom>
        </p:spPr>
      </p:pic>
      <p:sp>
        <p:nvSpPr>
          <p:cNvPr id="32" name="Text 24"/>
          <p:cNvSpPr/>
          <p:nvPr/>
        </p:nvSpPr>
        <p:spPr>
          <a:xfrm>
            <a:off x="9217152" y="4206240"/>
            <a:ext cx="2121408" cy="502920"/>
          </a:xfrm>
          <a:prstGeom prst="rect">
            <a:avLst/>
          </a:prstGeom>
          <a:noFill/>
          <a:ln/>
        </p:spPr>
        <p:txBody>
          <a:bodyPr wrap="square" rtlCol="0" anchor="ctr"/>
          <a:lstStyle/>
          <a:p>
            <a:pPr indent="0" marL="0">
              <a:lnSpc>
                <a:spcPct val="105000"/>
              </a:lnSpc>
              <a:buNone/>
            </a:pPr>
            <a:r>
              <a:rPr lang="en-US" sz="1400" b="1" dirty="0">
                <a:solidFill>
                  <a:srgbClr val="1E2761"/>
                </a:solidFill>
                <a:latin typeface="Cambria" pitchFamily="34" charset="0"/>
                <a:ea typeface="Cambria" pitchFamily="34" charset="-122"/>
                <a:cs typeface="Cambria" pitchFamily="34" charset="-120"/>
              </a:rPr>
              <a:t>インフラ / デプロイ</a:t>
            </a:r>
            <a:endParaRPr lang="en-US" sz="1400" dirty="0"/>
          </a:p>
        </p:txBody>
      </p:sp>
      <p:sp>
        <p:nvSpPr>
          <p:cNvPr id="33" name="Text 25"/>
          <p:cNvSpPr/>
          <p:nvPr/>
        </p:nvSpPr>
        <p:spPr>
          <a:xfrm>
            <a:off x="8394192" y="4946904"/>
            <a:ext cx="2944368" cy="676656"/>
          </a:xfrm>
          <a:prstGeom prst="rect">
            <a:avLst/>
          </a:prstGeom>
          <a:noFill/>
          <a:ln/>
        </p:spPr>
        <p:txBody>
          <a:bodyPr wrap="square" rtlCol="0" anchor="ctr"/>
          <a:lstStyle/>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AWS EC2 + Docker Compose</a:t>
            </a:r>
            <a:endParaRPr lang="en-US" sz="1200" dirty="0"/>
          </a:p>
          <a:p>
            <a:pPr indent="0" marL="0">
              <a:lnSpc>
                <a:spcPct val="125000"/>
              </a:lnSpc>
              <a:buNone/>
            </a:pPr>
            <a:r>
              <a:rPr lang="en-US" sz="1200" dirty="0">
                <a:solidFill>
                  <a:srgbClr val="5B6478"/>
                </a:solidFill>
                <a:latin typeface="Calibri" pitchFamily="34" charset="0"/>
                <a:ea typeface="Calibri" pitchFamily="34" charset="-122"/>
                <a:cs typeface="Calibri" pitchFamily="34" charset="-120"/>
              </a:rPr>
              <a:t>GitHub Actions · cron</a:t>
            </a:r>
            <a:endParaRPr lang="en-US" sz="1200" dirty="0"/>
          </a:p>
        </p:txBody>
      </p:sp>
      <p:sp>
        <p:nvSpPr>
          <p:cNvPr id="34" name="Text 2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03</a:t>
            </a:r>
            <a:endParaRPr lang="en-US" sz="1000" dirty="0"/>
          </a:p>
        </p:txBody>
      </p:sp>
      <p:sp>
        <p:nvSpPr>
          <p:cNvPr id="35" name="Text 27"/>
          <p:cNvSpPr/>
          <p:nvPr/>
        </p:nvSpPr>
        <p:spPr>
          <a:xfrm>
            <a:off x="548640" y="6400800"/>
            <a:ext cx="4572000" cy="274320"/>
          </a:xfrm>
          <a:prstGeom prst="rect">
            <a:avLst/>
          </a:prstGeom>
          <a:noFill/>
          <a:ln/>
        </p:spPr>
        <p:txBody>
          <a:bodyPr wrap="square" rtlCol="0" anchor="ctr"/>
          <a:lstStyle/>
          <a:p>
            <a:pPr indent="0" marL="0">
              <a:buNone/>
            </a:pPr>
            <a:r>
              <a:rPr lang="en-US" sz="1000" spc="100" kern="0" dirty="0">
                <a:solidFill>
                  <a:srgbClr val="8B93A7"/>
                </a:solidFill>
                <a:latin typeface="Calibri" pitchFamily="34" charset="0"/>
                <a:ea typeface="Calibri" pitchFamily="34" charset="-122"/>
                <a:cs typeface="Calibri" pitchFamily="34" charset="-120"/>
              </a:rPr>
              <a:t>KIMINO NO ANIME WA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E8433B"/>
                </a:solidFill>
                <a:latin typeface="Calibri" pitchFamily="34" charset="0"/>
                <a:ea typeface="Calibri" pitchFamily="34" charset="-122"/>
                <a:cs typeface="Calibri" pitchFamily="34" charset="-120"/>
              </a:rPr>
              <a:t>CORE FEATURES &amp; MERIT</a:t>
            </a:r>
            <a:endParaRPr lang="en-US" sz="1200" dirty="0"/>
          </a:p>
        </p:txBody>
      </p:sp>
      <p:sp>
        <p:nvSpPr>
          <p:cNvPr id="3" name="Text 1"/>
          <p:cNvSpPr/>
          <p:nvPr/>
        </p:nvSpPr>
        <p:spPr>
          <a:xfrm>
            <a:off x="548640" y="594360"/>
            <a:ext cx="91440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主要機能・コア機能</a:t>
            </a:r>
            <a:endParaRPr lang="en-US" sz="3200" dirty="0"/>
          </a:p>
        </p:txBody>
      </p:sp>
      <p:sp>
        <p:nvSpPr>
          <p:cNvPr id="4" name="Text 2"/>
          <p:cNvSpPr/>
          <p:nvPr/>
        </p:nvSpPr>
        <p:spPr>
          <a:xfrm>
            <a:off x="548640" y="1554480"/>
            <a:ext cx="3657600" cy="320040"/>
          </a:xfrm>
          <a:prstGeom prst="rect">
            <a:avLst/>
          </a:prstGeom>
          <a:noFill/>
          <a:ln/>
        </p:spPr>
        <p:txBody>
          <a:bodyPr wrap="square" rtlCol="0" anchor="ctr"/>
          <a:lstStyle/>
          <a:p>
            <a:pPr indent="0" marL="0">
              <a:buNone/>
            </a:pPr>
            <a:r>
              <a:rPr lang="en-US" sz="1500" b="1" dirty="0">
                <a:solidFill>
                  <a:srgbClr val="E8433B"/>
                </a:solidFill>
                <a:latin typeface="Cambria" pitchFamily="34" charset="0"/>
                <a:ea typeface="Cambria" pitchFamily="34" charset="-122"/>
                <a:cs typeface="Cambria" pitchFamily="34" charset="-120"/>
              </a:rPr>
              <a:t>コア機能</a:t>
            </a:r>
            <a:endParaRPr lang="en-US" sz="1500" dirty="0"/>
          </a:p>
        </p:txBody>
      </p:sp>
      <p:sp>
        <p:nvSpPr>
          <p:cNvPr id="5" name="Shape 3"/>
          <p:cNvSpPr/>
          <p:nvPr/>
        </p:nvSpPr>
        <p:spPr>
          <a:xfrm>
            <a:off x="548640" y="1965960"/>
            <a:ext cx="548640" cy="548640"/>
          </a:xfrm>
          <a:prstGeom prst="ellipse">
            <a:avLst/>
          </a:prstGeom>
          <a:solidFill>
            <a:srgbClr val="F4F6FB"/>
          </a:solidFill>
          <a:ln/>
        </p:spPr>
      </p:sp>
      <p:pic>
        <p:nvPicPr>
          <p:cNvPr id="6" name="Image 0" descr="/home/claude/kiminoaniwa_ppt/icons/feat_signup.png">    </p:cNvPr>
          <p:cNvPicPr>
            <a:picLocks noChangeAspect="1"/>
          </p:cNvPicPr>
          <p:nvPr/>
        </p:nvPicPr>
        <p:blipFill>
          <a:blip r:embed="rId1"/>
          <a:stretch>
            <a:fillRect/>
          </a:stretch>
        </p:blipFill>
        <p:spPr>
          <a:xfrm>
            <a:off x="685800" y="2103120"/>
            <a:ext cx="274320" cy="274320"/>
          </a:xfrm>
          <a:prstGeom prst="rect">
            <a:avLst/>
          </a:prstGeom>
        </p:spPr>
      </p:pic>
      <p:sp>
        <p:nvSpPr>
          <p:cNvPr id="7" name="Text 4"/>
          <p:cNvSpPr/>
          <p:nvPr/>
        </p:nvSpPr>
        <p:spPr>
          <a:xfrm>
            <a:off x="1234440" y="1947672"/>
            <a:ext cx="4617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独自会員システム</a:t>
            </a:r>
            <a:endParaRPr lang="en-US" sz="1300" dirty="0"/>
          </a:p>
        </p:txBody>
      </p:sp>
      <p:sp>
        <p:nvSpPr>
          <p:cNvPr id="8" name="Text 5"/>
          <p:cNvSpPr/>
          <p:nvPr/>
        </p:nvSpPr>
        <p:spPr>
          <a:xfrm>
            <a:off x="1234440" y="2258568"/>
            <a:ext cx="4617720" cy="457200"/>
          </a:xfrm>
          <a:prstGeom prst="rect">
            <a:avLst/>
          </a:prstGeom>
          <a:noFill/>
          <a:ln/>
        </p:spPr>
        <p:txBody>
          <a:bodyPr wrap="square" rtlCol="0" anchor="ctr"/>
          <a:lstStyle/>
          <a:p>
            <a:pPr indent="0" marL="0">
              <a:lnSpc>
                <a:spcPct val="110000"/>
              </a:lnSpc>
              <a:buNone/>
            </a:pPr>
            <a:r>
              <a:rPr lang="en-US" sz="1050" dirty="0">
                <a:solidFill>
                  <a:srgbClr val="5B6478"/>
                </a:solidFill>
                <a:latin typeface="Calibri" pitchFamily="34" charset="0"/>
                <a:ea typeface="Calibri" pitchFamily="34" charset="-122"/>
                <a:cs typeface="Calibri" pitchFamily="34" charset="-120"/>
              </a:rPr>
              <a:t>メール+パスワードでの登録/ログイン、好みキーワード設定</a:t>
            </a:r>
            <a:endParaRPr lang="en-US" sz="1050" dirty="0"/>
          </a:p>
        </p:txBody>
      </p:sp>
      <p:sp>
        <p:nvSpPr>
          <p:cNvPr id="9" name="Shape 6"/>
          <p:cNvSpPr/>
          <p:nvPr/>
        </p:nvSpPr>
        <p:spPr>
          <a:xfrm>
            <a:off x="6263640" y="1965960"/>
            <a:ext cx="548640" cy="548640"/>
          </a:xfrm>
          <a:prstGeom prst="ellipse">
            <a:avLst/>
          </a:prstGeom>
          <a:solidFill>
            <a:srgbClr val="F4F6FB"/>
          </a:solidFill>
          <a:ln/>
        </p:spPr>
      </p:sp>
      <p:pic>
        <p:nvPicPr>
          <p:cNvPr id="10" name="Image 1" descr="/home/claude/kiminoaniwa_ppt/icons/feat_book.png">    </p:cNvPr>
          <p:cNvPicPr>
            <a:picLocks noChangeAspect="1"/>
          </p:cNvPicPr>
          <p:nvPr/>
        </p:nvPicPr>
        <p:blipFill>
          <a:blip r:embed="rId2"/>
          <a:stretch>
            <a:fillRect/>
          </a:stretch>
        </p:blipFill>
        <p:spPr>
          <a:xfrm>
            <a:off x="6400800" y="2103120"/>
            <a:ext cx="274320" cy="274320"/>
          </a:xfrm>
          <a:prstGeom prst="rect">
            <a:avLst/>
          </a:prstGeom>
        </p:spPr>
      </p:pic>
      <p:sp>
        <p:nvSpPr>
          <p:cNvPr id="11" name="Text 7"/>
          <p:cNvSpPr/>
          <p:nvPr/>
        </p:nvSpPr>
        <p:spPr>
          <a:xfrm>
            <a:off x="6949440" y="1947672"/>
            <a:ext cx="4617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作品情報・シリーズ接続</a:t>
            </a:r>
            <a:endParaRPr lang="en-US" sz="1300" dirty="0"/>
          </a:p>
        </p:txBody>
      </p:sp>
      <p:sp>
        <p:nvSpPr>
          <p:cNvPr id="12" name="Text 8"/>
          <p:cNvSpPr/>
          <p:nvPr/>
        </p:nvSpPr>
        <p:spPr>
          <a:xfrm>
            <a:off x="6949440" y="2258568"/>
            <a:ext cx="4617720" cy="457200"/>
          </a:xfrm>
          <a:prstGeom prst="rect">
            <a:avLst/>
          </a:prstGeom>
          <a:noFill/>
          <a:ln/>
        </p:spPr>
        <p:txBody>
          <a:bodyPr wrap="square" rtlCol="0" anchor="ctr"/>
          <a:lstStyle/>
          <a:p>
            <a:pPr indent="0" marL="0">
              <a:lnSpc>
                <a:spcPct val="110000"/>
              </a:lnSpc>
              <a:buNone/>
            </a:pPr>
            <a:r>
              <a:rPr lang="en-US" sz="1050" dirty="0">
                <a:solidFill>
                  <a:srgbClr val="5B6478"/>
                </a:solidFill>
                <a:latin typeface="Calibri" pitchFamily="34" charset="0"/>
                <a:ea typeface="Calibri" pitchFamily="34" charset="-122"/>
                <a:cs typeface="Calibri" pitchFamily="34" charset="-120"/>
              </a:rPr>
              <a:t>一覧/詳細、原作→アニメ→続編の接続 (AniList relations)</a:t>
            </a:r>
            <a:endParaRPr lang="en-US" sz="1050" dirty="0"/>
          </a:p>
        </p:txBody>
      </p:sp>
      <p:sp>
        <p:nvSpPr>
          <p:cNvPr id="13" name="Shape 9"/>
          <p:cNvSpPr/>
          <p:nvPr/>
        </p:nvSpPr>
        <p:spPr>
          <a:xfrm>
            <a:off x="548640" y="2834640"/>
            <a:ext cx="548640" cy="548640"/>
          </a:xfrm>
          <a:prstGeom prst="ellipse">
            <a:avLst/>
          </a:prstGeom>
          <a:solidFill>
            <a:srgbClr val="F4F6FB"/>
          </a:solidFill>
          <a:ln/>
        </p:spPr>
      </p:sp>
      <p:pic>
        <p:nvPicPr>
          <p:cNvPr id="14" name="Image 2" descr="/home/claude/kiminoaniwa_ppt/icons/feat_star.png">    </p:cNvPr>
          <p:cNvPicPr>
            <a:picLocks noChangeAspect="1"/>
          </p:cNvPicPr>
          <p:nvPr/>
        </p:nvPicPr>
        <p:blipFill>
          <a:blip r:embed="rId3"/>
          <a:stretch>
            <a:fillRect/>
          </a:stretch>
        </p:blipFill>
        <p:spPr>
          <a:xfrm>
            <a:off x="685800" y="2971800"/>
            <a:ext cx="274320" cy="274320"/>
          </a:xfrm>
          <a:prstGeom prst="rect">
            <a:avLst/>
          </a:prstGeom>
        </p:spPr>
      </p:pic>
      <p:sp>
        <p:nvSpPr>
          <p:cNvPr id="15" name="Text 10"/>
          <p:cNvSpPr/>
          <p:nvPr/>
        </p:nvSpPr>
        <p:spPr>
          <a:xfrm>
            <a:off x="1234440" y="2816352"/>
            <a:ext cx="4617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評価・レビュー</a:t>
            </a:r>
            <a:endParaRPr lang="en-US" sz="1300" dirty="0"/>
          </a:p>
        </p:txBody>
      </p:sp>
      <p:sp>
        <p:nvSpPr>
          <p:cNvPr id="16" name="Text 11"/>
          <p:cNvSpPr/>
          <p:nvPr/>
        </p:nvSpPr>
        <p:spPr>
          <a:xfrm>
            <a:off x="1234440" y="3127248"/>
            <a:ext cx="4617720" cy="457200"/>
          </a:xfrm>
          <a:prstGeom prst="rect">
            <a:avLst/>
          </a:prstGeom>
          <a:noFill/>
          <a:ln/>
        </p:spPr>
        <p:txBody>
          <a:bodyPr wrap="square" rtlCol="0" anchor="ctr"/>
          <a:lstStyle/>
          <a:p>
            <a:pPr indent="0" marL="0">
              <a:lnSpc>
                <a:spcPct val="110000"/>
              </a:lnSpc>
              <a:buNone/>
            </a:pPr>
            <a:r>
              <a:rPr lang="en-US" sz="1050" dirty="0">
                <a:solidFill>
                  <a:srgbClr val="5B6478"/>
                </a:solidFill>
                <a:latin typeface="Calibri" pitchFamily="34" charset="0"/>
                <a:ea typeface="Calibri" pitchFamily="34" charset="-122"/>
                <a:cs typeface="Calibri" pitchFamily="34" charset="-120"/>
              </a:rPr>
              <a:t>1〜10点評価、ネタバレ非表示、コメント・通報</a:t>
            </a:r>
            <a:endParaRPr lang="en-US" sz="1050" dirty="0"/>
          </a:p>
        </p:txBody>
      </p:sp>
      <p:sp>
        <p:nvSpPr>
          <p:cNvPr id="17" name="Shape 12"/>
          <p:cNvSpPr/>
          <p:nvPr/>
        </p:nvSpPr>
        <p:spPr>
          <a:xfrm>
            <a:off x="6263640" y="2834640"/>
            <a:ext cx="548640" cy="548640"/>
          </a:xfrm>
          <a:prstGeom prst="ellipse">
            <a:avLst/>
          </a:prstGeom>
          <a:solidFill>
            <a:srgbClr val="F4F6FB"/>
          </a:solidFill>
          <a:ln/>
        </p:spPr>
      </p:sp>
      <p:pic>
        <p:nvPicPr>
          <p:cNvPr id="18" name="Image 3" descr="/home/claude/kiminoaniwa_ppt/icons/feat_trophy.png">    </p:cNvPr>
          <p:cNvPicPr>
            <a:picLocks noChangeAspect="1"/>
          </p:cNvPicPr>
          <p:nvPr/>
        </p:nvPicPr>
        <p:blipFill>
          <a:blip r:embed="rId4"/>
          <a:stretch>
            <a:fillRect/>
          </a:stretch>
        </p:blipFill>
        <p:spPr>
          <a:xfrm>
            <a:off x="6400800" y="2971800"/>
            <a:ext cx="274320" cy="274320"/>
          </a:xfrm>
          <a:prstGeom prst="rect">
            <a:avLst/>
          </a:prstGeom>
        </p:spPr>
      </p:pic>
      <p:sp>
        <p:nvSpPr>
          <p:cNvPr id="19" name="Text 13"/>
          <p:cNvSpPr/>
          <p:nvPr/>
        </p:nvSpPr>
        <p:spPr>
          <a:xfrm>
            <a:off x="6949440" y="2816352"/>
            <a:ext cx="4617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独自基準ランキング</a:t>
            </a:r>
            <a:endParaRPr lang="en-US" sz="1300" dirty="0"/>
          </a:p>
        </p:txBody>
      </p:sp>
      <p:sp>
        <p:nvSpPr>
          <p:cNvPr id="20" name="Text 14"/>
          <p:cNvSpPr/>
          <p:nvPr/>
        </p:nvSpPr>
        <p:spPr>
          <a:xfrm>
            <a:off x="6949440" y="3127248"/>
            <a:ext cx="4617720" cy="457200"/>
          </a:xfrm>
          <a:prstGeom prst="rect">
            <a:avLst/>
          </a:prstGeom>
          <a:noFill/>
          <a:ln/>
        </p:spPr>
        <p:txBody>
          <a:bodyPr wrap="square" rtlCol="0" anchor="ctr"/>
          <a:lstStyle/>
          <a:p>
            <a:pPr indent="0" marL="0">
              <a:lnSpc>
                <a:spcPct val="110000"/>
              </a:lnSpc>
              <a:buNone/>
            </a:pPr>
            <a:r>
              <a:rPr lang="en-US" sz="1050" dirty="0">
                <a:solidFill>
                  <a:srgbClr val="5B6478"/>
                </a:solidFill>
                <a:latin typeface="Calibri" pitchFamily="34" charset="0"/>
                <a:ea typeface="Calibri" pitchFamily="34" charset="-122"/>
                <a:cs typeface="Calibri" pitchFamily="34" charset="-120"/>
              </a:rPr>
              <a:t>マンガは韓国/日本の原産国フィルター、アニメはジャンル・シーズンフィルター、前日比の変動表示</a:t>
            </a:r>
            <a:endParaRPr lang="en-US" sz="1050" dirty="0"/>
          </a:p>
        </p:txBody>
      </p:sp>
      <p:sp>
        <p:nvSpPr>
          <p:cNvPr id="21" name="Shape 15"/>
          <p:cNvSpPr/>
          <p:nvPr/>
        </p:nvSpPr>
        <p:spPr>
          <a:xfrm>
            <a:off x="548640" y="3703320"/>
            <a:ext cx="548640" cy="548640"/>
          </a:xfrm>
          <a:prstGeom prst="ellipse">
            <a:avLst/>
          </a:prstGeom>
          <a:solidFill>
            <a:srgbClr val="F4F6FB"/>
          </a:solidFill>
          <a:ln/>
        </p:spPr>
      </p:sp>
      <p:pic>
        <p:nvPicPr>
          <p:cNvPr id="22" name="Image 4" descr="/home/claude/kiminoaniwa_ppt/icons/feat_ai.png">    </p:cNvPr>
          <p:cNvPicPr>
            <a:picLocks noChangeAspect="1"/>
          </p:cNvPicPr>
          <p:nvPr/>
        </p:nvPicPr>
        <p:blipFill>
          <a:blip r:embed="rId5"/>
          <a:stretch>
            <a:fillRect/>
          </a:stretch>
        </p:blipFill>
        <p:spPr>
          <a:xfrm>
            <a:off x="685800" y="3840480"/>
            <a:ext cx="274320" cy="274320"/>
          </a:xfrm>
          <a:prstGeom prst="rect">
            <a:avLst/>
          </a:prstGeom>
        </p:spPr>
      </p:pic>
      <p:sp>
        <p:nvSpPr>
          <p:cNvPr id="23" name="Text 16"/>
          <p:cNvSpPr/>
          <p:nvPr/>
        </p:nvSpPr>
        <p:spPr>
          <a:xfrm>
            <a:off x="1234440" y="3685032"/>
            <a:ext cx="4617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Claude AI機能</a:t>
            </a:r>
            <a:endParaRPr lang="en-US" sz="1300" dirty="0"/>
          </a:p>
        </p:txBody>
      </p:sp>
      <p:sp>
        <p:nvSpPr>
          <p:cNvPr id="24" name="Text 17"/>
          <p:cNvSpPr/>
          <p:nvPr/>
        </p:nvSpPr>
        <p:spPr>
          <a:xfrm>
            <a:off x="1234440" y="3995928"/>
            <a:ext cx="4617720" cy="457200"/>
          </a:xfrm>
          <a:prstGeom prst="rect">
            <a:avLst/>
          </a:prstGeom>
          <a:noFill/>
          <a:ln/>
        </p:spPr>
        <p:txBody>
          <a:bodyPr wrap="square" rtlCol="0" anchor="ctr"/>
          <a:lstStyle/>
          <a:p>
            <a:pPr indent="0" marL="0">
              <a:lnSpc>
                <a:spcPct val="110000"/>
              </a:lnSpc>
              <a:buNone/>
            </a:pPr>
            <a:r>
              <a:rPr lang="en-US" sz="1050" dirty="0">
                <a:solidFill>
                  <a:srgbClr val="5B6478"/>
                </a:solidFill>
                <a:latin typeface="Calibri" pitchFamily="34" charset="0"/>
                <a:ea typeface="Calibri" pitchFamily="34" charset="-122"/>
                <a:cs typeface="Calibri" pitchFamily="34" charset="-120"/>
              </a:rPr>
              <a:t>自然言語検索・チャットボット推薦・評価帯別レビュー要約・おすすめ理由生成</a:t>
            </a:r>
            <a:endParaRPr lang="en-US" sz="1050" dirty="0"/>
          </a:p>
        </p:txBody>
      </p:sp>
      <p:sp>
        <p:nvSpPr>
          <p:cNvPr id="25" name="Shape 18"/>
          <p:cNvSpPr/>
          <p:nvPr/>
        </p:nvSpPr>
        <p:spPr>
          <a:xfrm>
            <a:off x="6263640" y="3703320"/>
            <a:ext cx="548640" cy="548640"/>
          </a:xfrm>
          <a:prstGeom prst="ellipse">
            <a:avLst/>
          </a:prstGeom>
          <a:solidFill>
            <a:srgbClr val="F4F6FB"/>
          </a:solidFill>
          <a:ln/>
        </p:spPr>
      </p:sp>
      <p:pic>
        <p:nvPicPr>
          <p:cNvPr id="26" name="Image 5" descr="/home/claude/kiminoaniwa_ppt/icons/feat_bookmark.png">    </p:cNvPr>
          <p:cNvPicPr>
            <a:picLocks noChangeAspect="1"/>
          </p:cNvPicPr>
          <p:nvPr/>
        </p:nvPicPr>
        <p:blipFill>
          <a:blip r:embed="rId6"/>
          <a:stretch>
            <a:fillRect/>
          </a:stretch>
        </p:blipFill>
        <p:spPr>
          <a:xfrm>
            <a:off x="6400800" y="3840480"/>
            <a:ext cx="274320" cy="274320"/>
          </a:xfrm>
          <a:prstGeom prst="rect">
            <a:avLst/>
          </a:prstGeom>
        </p:spPr>
      </p:pic>
      <p:sp>
        <p:nvSpPr>
          <p:cNvPr id="27" name="Text 19"/>
          <p:cNvSpPr/>
          <p:nvPr/>
        </p:nvSpPr>
        <p:spPr>
          <a:xfrm>
            <a:off x="6949440" y="3685032"/>
            <a:ext cx="46177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保管庫</a:t>
            </a:r>
            <a:endParaRPr lang="en-US" sz="1300" dirty="0"/>
          </a:p>
        </p:txBody>
      </p:sp>
      <p:sp>
        <p:nvSpPr>
          <p:cNvPr id="28" name="Text 20"/>
          <p:cNvSpPr/>
          <p:nvPr/>
        </p:nvSpPr>
        <p:spPr>
          <a:xfrm>
            <a:off x="6949440" y="3995928"/>
            <a:ext cx="4617720" cy="457200"/>
          </a:xfrm>
          <a:prstGeom prst="rect">
            <a:avLst/>
          </a:prstGeom>
          <a:noFill/>
          <a:ln/>
        </p:spPr>
        <p:txBody>
          <a:bodyPr wrap="square" rtlCol="0" anchor="ctr"/>
          <a:lstStyle/>
          <a:p>
            <a:pPr indent="0" marL="0">
              <a:lnSpc>
                <a:spcPct val="110000"/>
              </a:lnSpc>
              <a:buNone/>
            </a:pPr>
            <a:r>
              <a:rPr lang="en-US" sz="1050" dirty="0">
                <a:solidFill>
                  <a:srgbClr val="5B6478"/>
                </a:solidFill>
                <a:latin typeface="Calibri" pitchFamily="34" charset="0"/>
                <a:ea typeface="Calibri" pitchFamily="34" charset="-122"/>
                <a:cs typeface="Calibri" pitchFamily="34" charset="-120"/>
              </a:rPr>
              <a:t>お気に入り・視聴中・完了などの状態管理</a:t>
            </a:r>
            <a:endParaRPr lang="en-US" sz="1050" dirty="0"/>
          </a:p>
        </p:txBody>
      </p:sp>
      <p:sp>
        <p:nvSpPr>
          <p:cNvPr id="29" name="Shape 21"/>
          <p:cNvSpPr/>
          <p:nvPr/>
        </p:nvSpPr>
        <p:spPr>
          <a:xfrm>
            <a:off x="548640" y="4892040"/>
            <a:ext cx="11064240" cy="1371600"/>
          </a:xfrm>
          <a:prstGeom prst="roundRect">
            <a:avLst>
              <a:gd name="adj" fmla="val 6667"/>
            </a:avLst>
          </a:prstGeom>
          <a:solidFill>
            <a:srgbClr val="1E2761"/>
          </a:solidFill>
          <a:ln/>
          <a:effectLst>
            <a:outerShdw sx="100000" sy="100000" kx="0" ky="0" algn="bl" rotWithShape="0" blurRad="101600" dist="38100" dir="5400000">
              <a:srgbClr val="1E2761">
                <a:alpha val="18000"/>
              </a:srgbClr>
            </a:outerShdw>
          </a:effectLst>
        </p:spPr>
      </p:sp>
      <p:sp>
        <p:nvSpPr>
          <p:cNvPr id="30" name="Text 22"/>
          <p:cNvSpPr/>
          <p:nvPr/>
        </p:nvSpPr>
        <p:spPr>
          <a:xfrm>
            <a:off x="868680" y="5010912"/>
            <a:ext cx="2743200" cy="274320"/>
          </a:xfrm>
          <a:prstGeom prst="rect">
            <a:avLst/>
          </a:prstGeom>
          <a:noFill/>
          <a:ln/>
        </p:spPr>
        <p:txBody>
          <a:bodyPr wrap="square" rtlCol="0" anchor="ctr"/>
          <a:lstStyle/>
          <a:p>
            <a:pPr indent="0" marL="0">
              <a:buNone/>
            </a:pPr>
            <a:r>
              <a:rPr lang="en-US" sz="1100" b="1" spc="100" kern="0" dirty="0">
                <a:solidFill>
                  <a:srgbClr val="E8433B"/>
                </a:solidFill>
                <a:latin typeface="Calibri" pitchFamily="34" charset="0"/>
                <a:ea typeface="Calibri" pitchFamily="34" charset="-122"/>
                <a:cs typeface="Calibri" pitchFamily="34" charset="-120"/>
              </a:rPr>
              <a:t>メリット</a:t>
            </a:r>
            <a:endParaRPr lang="en-US" sz="1100" dirty="0"/>
          </a:p>
        </p:txBody>
      </p:sp>
      <p:sp>
        <p:nvSpPr>
          <p:cNvPr id="31" name="Shape 23"/>
          <p:cNvSpPr/>
          <p:nvPr/>
        </p:nvSpPr>
        <p:spPr>
          <a:xfrm>
            <a:off x="868680" y="5394960"/>
            <a:ext cx="502920" cy="502920"/>
          </a:xfrm>
          <a:prstGeom prst="ellipse">
            <a:avLst/>
          </a:prstGeom>
          <a:solidFill>
            <a:srgbClr val="FFFFFF"/>
          </a:solidFill>
          <a:ln/>
        </p:spPr>
      </p:sp>
      <p:pic>
        <p:nvPicPr>
          <p:cNvPr id="32" name="Image 6" descr="/home/claude/kiminoaniwa_ppt/icons/merit_shield.png">    </p:cNvPr>
          <p:cNvPicPr>
            <a:picLocks noChangeAspect="1"/>
          </p:cNvPicPr>
          <p:nvPr/>
        </p:nvPicPr>
        <p:blipFill>
          <a:blip r:embed="rId7"/>
          <a:stretch>
            <a:fillRect/>
          </a:stretch>
        </p:blipFill>
        <p:spPr>
          <a:xfrm>
            <a:off x="994410" y="5520690"/>
            <a:ext cx="251460" cy="251460"/>
          </a:xfrm>
          <a:prstGeom prst="rect">
            <a:avLst/>
          </a:prstGeom>
        </p:spPr>
      </p:pic>
      <p:sp>
        <p:nvSpPr>
          <p:cNvPr id="33" name="Text 24"/>
          <p:cNvSpPr/>
          <p:nvPr/>
        </p:nvSpPr>
        <p:spPr>
          <a:xfrm>
            <a:off x="1490472" y="5349240"/>
            <a:ext cx="2670048"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歪みのない信頼ランキング</a:t>
            </a:r>
            <a:endParaRPr lang="en-US" sz="1200" dirty="0"/>
          </a:p>
        </p:txBody>
      </p:sp>
      <p:sp>
        <p:nvSpPr>
          <p:cNvPr id="34" name="Text 25"/>
          <p:cNvSpPr/>
          <p:nvPr/>
        </p:nvSpPr>
        <p:spPr>
          <a:xfrm>
            <a:off x="1490472" y="5623560"/>
            <a:ext cx="2670048" cy="548640"/>
          </a:xfrm>
          <a:prstGeom prst="rect">
            <a:avLst/>
          </a:prstGeom>
          <a:noFill/>
          <a:ln/>
        </p:spPr>
        <p:txBody>
          <a:bodyPr wrap="square" rtlCol="0" anchor="ctr"/>
          <a:lstStyle/>
          <a:p>
            <a:pPr indent="0" marL="0">
              <a:lnSpc>
                <a:spcPct val="110000"/>
              </a:lnSpc>
              <a:buNone/>
            </a:pPr>
            <a:r>
              <a:rPr lang="en-US" sz="950" dirty="0">
                <a:solidFill>
                  <a:srgbClr val="CADCFC"/>
                </a:solidFill>
                <a:latin typeface="Calibri" pitchFamily="34" charset="0"/>
                <a:ea typeface="Calibri" pitchFamily="34" charset="-122"/>
                <a:cs typeface="Calibri" pitchFamily="34" charset="-120"/>
              </a:rPr>
              <a:t>AniListのグローバル指標に左右されない自社データ基準のランキング</a:t>
            </a:r>
            <a:endParaRPr lang="en-US" sz="950" dirty="0"/>
          </a:p>
        </p:txBody>
      </p:sp>
      <p:sp>
        <p:nvSpPr>
          <p:cNvPr id="35" name="Shape 26"/>
          <p:cNvSpPr/>
          <p:nvPr/>
        </p:nvSpPr>
        <p:spPr>
          <a:xfrm>
            <a:off x="4434840" y="5394960"/>
            <a:ext cx="502920" cy="502920"/>
          </a:xfrm>
          <a:prstGeom prst="ellipse">
            <a:avLst/>
          </a:prstGeom>
          <a:solidFill>
            <a:srgbClr val="FFFFFF"/>
          </a:solidFill>
          <a:ln/>
        </p:spPr>
      </p:sp>
      <p:pic>
        <p:nvPicPr>
          <p:cNvPr id="36" name="Image 7" descr="/home/claude/kiminoaniwa_ppt/icons/merit_clock.png">    </p:cNvPr>
          <p:cNvPicPr>
            <a:picLocks noChangeAspect="1"/>
          </p:cNvPicPr>
          <p:nvPr/>
        </p:nvPicPr>
        <p:blipFill>
          <a:blip r:embed="rId8"/>
          <a:stretch>
            <a:fillRect/>
          </a:stretch>
        </p:blipFill>
        <p:spPr>
          <a:xfrm>
            <a:off x="4560570" y="5520690"/>
            <a:ext cx="251460" cy="251460"/>
          </a:xfrm>
          <a:prstGeom prst="rect">
            <a:avLst/>
          </a:prstGeom>
        </p:spPr>
      </p:pic>
      <p:sp>
        <p:nvSpPr>
          <p:cNvPr id="37" name="Text 27"/>
          <p:cNvSpPr/>
          <p:nvPr/>
        </p:nvSpPr>
        <p:spPr>
          <a:xfrm>
            <a:off x="5056632" y="5349240"/>
            <a:ext cx="2670048"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探索時間の短縮</a:t>
            </a:r>
            <a:endParaRPr lang="en-US" sz="1200" dirty="0"/>
          </a:p>
        </p:txBody>
      </p:sp>
      <p:sp>
        <p:nvSpPr>
          <p:cNvPr id="38" name="Text 28"/>
          <p:cNvSpPr/>
          <p:nvPr/>
        </p:nvSpPr>
        <p:spPr>
          <a:xfrm>
            <a:off x="5056632" y="5623560"/>
            <a:ext cx="2670048" cy="548640"/>
          </a:xfrm>
          <a:prstGeom prst="rect">
            <a:avLst/>
          </a:prstGeom>
          <a:noFill/>
          <a:ln/>
        </p:spPr>
        <p:txBody>
          <a:bodyPr wrap="square" rtlCol="0" anchor="ctr"/>
          <a:lstStyle/>
          <a:p>
            <a:pPr indent="0" marL="0">
              <a:lnSpc>
                <a:spcPct val="110000"/>
              </a:lnSpc>
              <a:buNone/>
            </a:pPr>
            <a:r>
              <a:rPr lang="en-US" sz="950" dirty="0">
                <a:solidFill>
                  <a:srgbClr val="CADCFC"/>
                </a:solidFill>
                <a:latin typeface="Calibri" pitchFamily="34" charset="0"/>
                <a:ea typeface="Calibri" pitchFamily="34" charset="-122"/>
                <a:cs typeface="Calibri" pitchFamily="34" charset="-120"/>
              </a:rPr>
              <a:t>AI検索・チャットボット・要約で好みに合う作品をすばやく発見</a:t>
            </a:r>
            <a:endParaRPr lang="en-US" sz="950" dirty="0"/>
          </a:p>
        </p:txBody>
      </p:sp>
      <p:sp>
        <p:nvSpPr>
          <p:cNvPr id="39" name="Shape 29"/>
          <p:cNvSpPr/>
          <p:nvPr/>
        </p:nvSpPr>
        <p:spPr>
          <a:xfrm>
            <a:off x="8001000" y="5394960"/>
            <a:ext cx="502920" cy="502920"/>
          </a:xfrm>
          <a:prstGeom prst="ellipse">
            <a:avLst/>
          </a:prstGeom>
          <a:solidFill>
            <a:srgbClr val="FFFFFF"/>
          </a:solidFill>
          <a:ln/>
        </p:spPr>
      </p:sp>
      <p:pic>
        <p:nvPicPr>
          <p:cNvPr id="40" name="Image 8" descr="/home/claude/kiminoaniwa_ppt/icons/merit_link.png">    </p:cNvPr>
          <p:cNvPicPr>
            <a:picLocks noChangeAspect="1"/>
          </p:cNvPicPr>
          <p:nvPr/>
        </p:nvPicPr>
        <p:blipFill>
          <a:blip r:embed="rId9"/>
          <a:stretch>
            <a:fillRect/>
          </a:stretch>
        </p:blipFill>
        <p:spPr>
          <a:xfrm>
            <a:off x="8126730" y="5520690"/>
            <a:ext cx="251460" cy="251460"/>
          </a:xfrm>
          <a:prstGeom prst="rect">
            <a:avLst/>
          </a:prstGeom>
        </p:spPr>
      </p:pic>
      <p:sp>
        <p:nvSpPr>
          <p:cNvPr id="41" name="Text 30"/>
          <p:cNvSpPr/>
          <p:nvPr/>
        </p:nvSpPr>
        <p:spPr>
          <a:xfrm>
            <a:off x="8622792" y="5349240"/>
            <a:ext cx="2670048"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視聴順の悩みを解決</a:t>
            </a:r>
            <a:endParaRPr lang="en-US" sz="1200" dirty="0"/>
          </a:p>
        </p:txBody>
      </p:sp>
      <p:sp>
        <p:nvSpPr>
          <p:cNvPr id="42" name="Text 31"/>
          <p:cNvSpPr/>
          <p:nvPr/>
        </p:nvSpPr>
        <p:spPr>
          <a:xfrm>
            <a:off x="8622792" y="5623560"/>
            <a:ext cx="2670048" cy="548640"/>
          </a:xfrm>
          <a:prstGeom prst="rect">
            <a:avLst/>
          </a:prstGeom>
          <a:noFill/>
          <a:ln/>
        </p:spPr>
        <p:txBody>
          <a:bodyPr wrap="square" rtlCol="0" anchor="ctr"/>
          <a:lstStyle/>
          <a:p>
            <a:pPr indent="0" marL="0">
              <a:lnSpc>
                <a:spcPct val="110000"/>
              </a:lnSpc>
              <a:buNone/>
            </a:pPr>
            <a:r>
              <a:rPr lang="en-US" sz="950" dirty="0">
                <a:solidFill>
                  <a:srgbClr val="CADCFC"/>
                </a:solidFill>
                <a:latin typeface="Calibri" pitchFamily="34" charset="0"/>
                <a:ea typeface="Calibri" pitchFamily="34" charset="-122"/>
                <a:cs typeface="Calibri" pitchFamily="34" charset="-120"/>
              </a:rPr>
              <a:t>原作-アニメの接続情報で「どの順番で見るか」をすぐ案内</a:t>
            </a:r>
            <a:endParaRPr lang="en-US" sz="950" dirty="0"/>
          </a:p>
        </p:txBody>
      </p:sp>
      <p:sp>
        <p:nvSpPr>
          <p:cNvPr id="43" name="Text 3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04</a:t>
            </a:r>
            <a:endParaRPr lang="en-US" sz="1000" dirty="0"/>
          </a:p>
        </p:txBody>
      </p:sp>
      <p:sp>
        <p:nvSpPr>
          <p:cNvPr id="44" name="Text 33"/>
          <p:cNvSpPr/>
          <p:nvPr/>
        </p:nvSpPr>
        <p:spPr>
          <a:xfrm>
            <a:off x="548640" y="6400800"/>
            <a:ext cx="4572000" cy="274320"/>
          </a:xfrm>
          <a:prstGeom prst="rect">
            <a:avLst/>
          </a:prstGeom>
          <a:noFill/>
          <a:ln/>
        </p:spPr>
        <p:txBody>
          <a:bodyPr wrap="square" rtlCol="0" anchor="ctr"/>
          <a:lstStyle/>
          <a:p>
            <a:pPr indent="0" marL="0">
              <a:buNone/>
            </a:pPr>
            <a:r>
              <a:rPr lang="en-US" sz="1000" spc="100" kern="0" dirty="0">
                <a:solidFill>
                  <a:srgbClr val="8B93A7"/>
                </a:solidFill>
                <a:latin typeface="Calibri" pitchFamily="34" charset="0"/>
                <a:ea typeface="Calibri" pitchFamily="34" charset="-122"/>
                <a:cs typeface="Calibri" pitchFamily="34" charset="-120"/>
              </a:rPr>
              <a:t>KIMINO NO ANIME WA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E8433B"/>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594360"/>
            <a:ext cx="91440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システムアーキテクチャ</a:t>
            </a:r>
            <a:endParaRPr lang="en-US" sz="3200" dirty="0"/>
          </a:p>
        </p:txBody>
      </p:sp>
      <p:sp>
        <p:nvSpPr>
          <p:cNvPr id="4" name="Shape 2"/>
          <p:cNvSpPr/>
          <p:nvPr/>
        </p:nvSpPr>
        <p:spPr>
          <a:xfrm>
            <a:off x="1627632" y="1645920"/>
            <a:ext cx="420624" cy="420624"/>
          </a:xfrm>
          <a:prstGeom prst="ellipse">
            <a:avLst/>
          </a:prstGeom>
          <a:solidFill>
            <a:srgbClr val="1E2761"/>
          </a:solidFill>
          <a:ln/>
        </p:spPr>
      </p:sp>
      <p:pic>
        <p:nvPicPr>
          <p:cNvPr id="5" name="Image 0" descr="/home/claude/kiminoaniwa_ppt/icons/imp_users.png">    </p:cNvPr>
          <p:cNvPicPr>
            <a:picLocks noChangeAspect="1"/>
          </p:cNvPicPr>
          <p:nvPr/>
        </p:nvPicPr>
        <p:blipFill>
          <a:blip r:embed="rId1"/>
          <a:stretch>
            <a:fillRect/>
          </a:stretch>
        </p:blipFill>
        <p:spPr>
          <a:xfrm>
            <a:off x="1722272" y="1740560"/>
            <a:ext cx="231343" cy="231343"/>
          </a:xfrm>
          <a:prstGeom prst="rect">
            <a:avLst/>
          </a:prstGeom>
        </p:spPr>
      </p:pic>
      <p:sp>
        <p:nvSpPr>
          <p:cNvPr id="6" name="Text 3"/>
          <p:cNvSpPr/>
          <p:nvPr/>
        </p:nvSpPr>
        <p:spPr>
          <a:xfrm>
            <a:off x="1188720" y="2103120"/>
            <a:ext cx="1280160" cy="219456"/>
          </a:xfrm>
          <a:prstGeom prst="rect">
            <a:avLst/>
          </a:prstGeom>
          <a:noFill/>
          <a:ln/>
        </p:spPr>
        <p:txBody>
          <a:bodyPr wrap="square" rtlCol="0" anchor="ctr"/>
          <a:lstStyle/>
          <a:p>
            <a:pPr algn="ctr" indent="0" marL="0">
              <a:buNone/>
            </a:pPr>
            <a:r>
              <a:rPr lang="en-US" sz="900" b="1" spc="100" kern="0" dirty="0">
                <a:solidFill>
                  <a:srgbClr val="1E2761"/>
                </a:solidFill>
                <a:latin typeface="Calibri" pitchFamily="34" charset="0"/>
                <a:ea typeface="Calibri" pitchFamily="34" charset="-122"/>
                <a:cs typeface="Calibri" pitchFamily="34" charset="-120"/>
              </a:rPr>
              <a:t>CLIENTS</a:t>
            </a:r>
            <a:endParaRPr lang="en-US" sz="900" dirty="0"/>
          </a:p>
        </p:txBody>
      </p:sp>
      <p:sp>
        <p:nvSpPr>
          <p:cNvPr id="7" name="Shape 4"/>
          <p:cNvSpPr/>
          <p:nvPr/>
        </p:nvSpPr>
        <p:spPr>
          <a:xfrm>
            <a:off x="1837944" y="2331720"/>
            <a:ext cx="0" cy="182880"/>
          </a:xfrm>
          <a:prstGeom prst="line">
            <a:avLst/>
          </a:prstGeom>
          <a:noFill/>
          <a:ln w="19050">
            <a:solidFill>
              <a:srgbClr val="1E2761"/>
            </a:solidFill>
            <a:prstDash val="solid"/>
            <a:tailEnd type="triangle"/>
          </a:ln>
        </p:spPr>
      </p:sp>
      <p:sp>
        <p:nvSpPr>
          <p:cNvPr id="8" name="Shape 5"/>
          <p:cNvSpPr/>
          <p:nvPr/>
        </p:nvSpPr>
        <p:spPr>
          <a:xfrm>
            <a:off x="502920" y="2514600"/>
            <a:ext cx="2651760" cy="3520440"/>
          </a:xfrm>
          <a:prstGeom prst="roundRect">
            <a:avLst>
              <a:gd name="adj" fmla="val 4138"/>
            </a:avLst>
          </a:prstGeom>
          <a:solidFill>
            <a:srgbClr val="FFFFFF"/>
          </a:solidFill>
          <a:ln w="22225">
            <a:solidFill>
              <a:srgbClr val="E8433B"/>
            </a:solidFill>
            <a:prstDash val="solid"/>
          </a:ln>
          <a:effectLst>
            <a:outerShdw sx="100000" sy="100000" kx="0" ky="0" algn="bl" rotWithShape="0" blurRad="101600" dist="38100" dir="5400000">
              <a:srgbClr val="1E2761">
                <a:alpha val="18000"/>
              </a:srgbClr>
            </a:outerShdw>
          </a:effectLst>
        </p:spPr>
      </p:sp>
      <p:sp>
        <p:nvSpPr>
          <p:cNvPr id="9" name="Text 6"/>
          <p:cNvSpPr/>
          <p:nvPr/>
        </p:nvSpPr>
        <p:spPr>
          <a:xfrm>
            <a:off x="731520" y="2651760"/>
            <a:ext cx="2194560"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クライアント (ブラウザ)</a:t>
            </a:r>
            <a:endParaRPr lang="en-US" sz="1250" dirty="0"/>
          </a:p>
        </p:txBody>
      </p:sp>
      <p:sp>
        <p:nvSpPr>
          <p:cNvPr id="10" name="Text 7"/>
          <p:cNvSpPr/>
          <p:nvPr/>
        </p:nvSpPr>
        <p:spPr>
          <a:xfrm>
            <a:off x="731520" y="2944368"/>
            <a:ext cx="2194560" cy="228600"/>
          </a:xfrm>
          <a:prstGeom prst="rect">
            <a:avLst/>
          </a:prstGeom>
          <a:noFill/>
          <a:ln/>
        </p:spPr>
        <p:txBody>
          <a:bodyPr wrap="square" rtlCol="0" anchor="ctr"/>
          <a:lstStyle/>
          <a:p>
            <a:pPr indent="0" marL="0">
              <a:buNone/>
            </a:pPr>
            <a:r>
              <a:rPr lang="en-US" sz="900" dirty="0">
                <a:solidFill>
                  <a:srgbClr val="5B6478"/>
                </a:solidFill>
                <a:latin typeface="Calibri" pitchFamily="34" charset="0"/>
                <a:ea typeface="Calibri" pitchFamily="34" charset="-122"/>
                <a:cs typeface="Calibri" pitchFamily="34" charset="-120"/>
              </a:rPr>
              <a:t>静的リソース・画面レンダリング</a:t>
            </a:r>
            <a:endParaRPr lang="en-US" sz="900" dirty="0"/>
          </a:p>
        </p:txBody>
      </p:sp>
      <p:sp>
        <p:nvSpPr>
          <p:cNvPr id="11" name="Shape 8"/>
          <p:cNvSpPr/>
          <p:nvPr/>
        </p:nvSpPr>
        <p:spPr>
          <a:xfrm>
            <a:off x="777240" y="3429000"/>
            <a:ext cx="566928" cy="566928"/>
          </a:xfrm>
          <a:prstGeom prst="roundRect">
            <a:avLst>
              <a:gd name="adj" fmla="val 11290"/>
            </a:avLst>
          </a:prstGeom>
          <a:solidFill>
            <a:srgbClr val="FFFFFF"/>
          </a:solidFill>
          <a:ln w="12700">
            <a:solidFill>
              <a:srgbClr val="C7CEDE"/>
            </a:solidFill>
            <a:prstDash val="dash"/>
          </a:ln>
        </p:spPr>
      </p:sp>
      <p:sp>
        <p:nvSpPr>
          <p:cNvPr id="12" name="Text 9"/>
          <p:cNvSpPr/>
          <p:nvPr/>
        </p:nvSpPr>
        <p:spPr>
          <a:xfrm>
            <a:off x="777240" y="3429000"/>
            <a:ext cx="566928" cy="566928"/>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13" name="Text 10"/>
          <p:cNvSpPr/>
          <p:nvPr/>
        </p:nvSpPr>
        <p:spPr>
          <a:xfrm>
            <a:off x="548640" y="4023360"/>
            <a:ext cx="1024128"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Next.js</a:t>
            </a:r>
            <a:endParaRPr lang="en-US" sz="750" dirty="0"/>
          </a:p>
        </p:txBody>
      </p:sp>
      <p:sp>
        <p:nvSpPr>
          <p:cNvPr id="14" name="Shape 11"/>
          <p:cNvSpPr/>
          <p:nvPr/>
        </p:nvSpPr>
        <p:spPr>
          <a:xfrm>
            <a:off x="1920240" y="3429000"/>
            <a:ext cx="566928" cy="566928"/>
          </a:xfrm>
          <a:prstGeom prst="roundRect">
            <a:avLst>
              <a:gd name="adj" fmla="val 11290"/>
            </a:avLst>
          </a:prstGeom>
          <a:solidFill>
            <a:srgbClr val="FFFFFF"/>
          </a:solidFill>
          <a:ln w="12700">
            <a:solidFill>
              <a:srgbClr val="C7CEDE"/>
            </a:solidFill>
            <a:prstDash val="dash"/>
          </a:ln>
        </p:spPr>
      </p:sp>
      <p:sp>
        <p:nvSpPr>
          <p:cNvPr id="15" name="Text 12"/>
          <p:cNvSpPr/>
          <p:nvPr/>
        </p:nvSpPr>
        <p:spPr>
          <a:xfrm>
            <a:off x="1920240" y="3429000"/>
            <a:ext cx="566928" cy="566928"/>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16" name="Text 13"/>
          <p:cNvSpPr/>
          <p:nvPr/>
        </p:nvSpPr>
        <p:spPr>
          <a:xfrm>
            <a:off x="1691640" y="4023360"/>
            <a:ext cx="1024128"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React</a:t>
            </a:r>
            <a:endParaRPr lang="en-US" sz="750" dirty="0"/>
          </a:p>
        </p:txBody>
      </p:sp>
      <p:sp>
        <p:nvSpPr>
          <p:cNvPr id="17" name="Shape 14"/>
          <p:cNvSpPr/>
          <p:nvPr/>
        </p:nvSpPr>
        <p:spPr>
          <a:xfrm>
            <a:off x="777240" y="4343400"/>
            <a:ext cx="566928" cy="566928"/>
          </a:xfrm>
          <a:prstGeom prst="roundRect">
            <a:avLst>
              <a:gd name="adj" fmla="val 11290"/>
            </a:avLst>
          </a:prstGeom>
          <a:solidFill>
            <a:srgbClr val="FFFFFF"/>
          </a:solidFill>
          <a:ln w="12700">
            <a:solidFill>
              <a:srgbClr val="C7CEDE"/>
            </a:solidFill>
            <a:prstDash val="dash"/>
          </a:ln>
        </p:spPr>
      </p:sp>
      <p:sp>
        <p:nvSpPr>
          <p:cNvPr id="18" name="Text 15"/>
          <p:cNvSpPr/>
          <p:nvPr/>
        </p:nvSpPr>
        <p:spPr>
          <a:xfrm>
            <a:off x="777240" y="4343400"/>
            <a:ext cx="566928" cy="566928"/>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19" name="Text 16"/>
          <p:cNvSpPr/>
          <p:nvPr/>
        </p:nvSpPr>
        <p:spPr>
          <a:xfrm>
            <a:off x="548640" y="4937760"/>
            <a:ext cx="1024128"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TypeScript</a:t>
            </a:r>
            <a:endParaRPr lang="en-US" sz="750" dirty="0"/>
          </a:p>
        </p:txBody>
      </p:sp>
      <p:sp>
        <p:nvSpPr>
          <p:cNvPr id="20" name="Shape 17"/>
          <p:cNvSpPr/>
          <p:nvPr/>
        </p:nvSpPr>
        <p:spPr>
          <a:xfrm>
            <a:off x="1920240" y="4343400"/>
            <a:ext cx="566928" cy="566928"/>
          </a:xfrm>
          <a:prstGeom prst="roundRect">
            <a:avLst>
              <a:gd name="adj" fmla="val 11290"/>
            </a:avLst>
          </a:prstGeom>
          <a:solidFill>
            <a:srgbClr val="FFFFFF"/>
          </a:solidFill>
          <a:ln w="12700">
            <a:solidFill>
              <a:srgbClr val="C7CEDE"/>
            </a:solidFill>
            <a:prstDash val="dash"/>
          </a:ln>
        </p:spPr>
      </p:sp>
      <p:sp>
        <p:nvSpPr>
          <p:cNvPr id="21" name="Text 18"/>
          <p:cNvSpPr/>
          <p:nvPr/>
        </p:nvSpPr>
        <p:spPr>
          <a:xfrm>
            <a:off x="1920240" y="4343400"/>
            <a:ext cx="566928" cy="566928"/>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22" name="Text 19"/>
          <p:cNvSpPr/>
          <p:nvPr/>
        </p:nvSpPr>
        <p:spPr>
          <a:xfrm>
            <a:off x="1691640" y="4937760"/>
            <a:ext cx="1024128"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Tailwind CSS</a:t>
            </a:r>
            <a:endParaRPr lang="en-US" sz="750" dirty="0"/>
          </a:p>
        </p:txBody>
      </p:sp>
      <p:sp>
        <p:nvSpPr>
          <p:cNvPr id="23" name="Text 20"/>
          <p:cNvSpPr/>
          <p:nvPr/>
        </p:nvSpPr>
        <p:spPr>
          <a:xfrm>
            <a:off x="731520" y="5669280"/>
            <a:ext cx="2194560" cy="274320"/>
          </a:xfrm>
          <a:prstGeom prst="rect">
            <a:avLst/>
          </a:prstGeom>
          <a:noFill/>
          <a:ln/>
        </p:spPr>
        <p:txBody>
          <a:bodyPr wrap="square" rtlCol="0" anchor="ctr"/>
          <a:lstStyle/>
          <a:p>
            <a:pPr indent="0" marL="0">
              <a:buNone/>
            </a:pPr>
            <a:r>
              <a:rPr lang="en-US" sz="850" i="1" dirty="0">
                <a:solidFill>
                  <a:srgbClr val="8B93A7"/>
                </a:solidFill>
                <a:latin typeface="Calibri" pitchFamily="34" charset="0"/>
                <a:ea typeface="Calibri" pitchFamily="34" charset="-122"/>
                <a:cs typeface="Calibri" pitchFamily="34" charset="-120"/>
              </a:rPr>
              <a:t>components/ui 共通コンポーネント</a:t>
            </a:r>
            <a:endParaRPr lang="en-US" sz="850" dirty="0"/>
          </a:p>
        </p:txBody>
      </p:sp>
      <p:sp>
        <p:nvSpPr>
          <p:cNvPr id="24" name="Shape 21"/>
          <p:cNvSpPr/>
          <p:nvPr/>
        </p:nvSpPr>
        <p:spPr>
          <a:xfrm>
            <a:off x="3154680" y="4274820"/>
            <a:ext cx="685800" cy="0"/>
          </a:xfrm>
          <a:prstGeom prst="line">
            <a:avLst/>
          </a:prstGeom>
          <a:noFill/>
          <a:ln w="19050">
            <a:solidFill>
              <a:srgbClr val="8B93A7"/>
            </a:solidFill>
            <a:prstDash val="solid"/>
            <a:headEnd type="triangle"/>
            <a:tailEnd type="triangle"/>
          </a:ln>
        </p:spPr>
      </p:sp>
      <p:sp>
        <p:nvSpPr>
          <p:cNvPr id="25" name="Shape 22"/>
          <p:cNvSpPr/>
          <p:nvPr/>
        </p:nvSpPr>
        <p:spPr>
          <a:xfrm>
            <a:off x="3840480" y="1920240"/>
            <a:ext cx="3931920" cy="4114800"/>
          </a:xfrm>
          <a:prstGeom prst="roundRect">
            <a:avLst>
              <a:gd name="adj" fmla="val 2791"/>
            </a:avLst>
          </a:prstGeom>
          <a:solidFill>
            <a:srgbClr val="FFFFFF"/>
          </a:solidFill>
          <a:ln w="22225">
            <a:solidFill>
              <a:srgbClr val="1E2761"/>
            </a:solidFill>
            <a:prstDash val="solid"/>
          </a:ln>
          <a:effectLst>
            <a:outerShdw sx="100000" sy="100000" kx="0" ky="0" algn="bl" rotWithShape="0" blurRad="101600" dist="38100" dir="5400000">
              <a:srgbClr val="1E2761">
                <a:alpha val="18000"/>
              </a:srgbClr>
            </a:outerShdw>
          </a:effectLst>
        </p:spPr>
      </p:sp>
      <p:sp>
        <p:nvSpPr>
          <p:cNvPr id="26" name="Shape 23"/>
          <p:cNvSpPr/>
          <p:nvPr/>
        </p:nvSpPr>
        <p:spPr>
          <a:xfrm>
            <a:off x="4114800" y="2121408"/>
            <a:ext cx="502920" cy="502920"/>
          </a:xfrm>
          <a:prstGeom prst="roundRect">
            <a:avLst>
              <a:gd name="adj" fmla="val 12727"/>
            </a:avLst>
          </a:prstGeom>
          <a:solidFill>
            <a:srgbClr val="FFFFFF"/>
          </a:solidFill>
          <a:ln w="12700">
            <a:solidFill>
              <a:srgbClr val="C7CEDE"/>
            </a:solidFill>
            <a:prstDash val="dash"/>
          </a:ln>
        </p:spPr>
      </p:sp>
      <p:sp>
        <p:nvSpPr>
          <p:cNvPr id="27" name="Text 24"/>
          <p:cNvSpPr/>
          <p:nvPr/>
        </p:nvSpPr>
        <p:spPr>
          <a:xfrm>
            <a:off x="4114800" y="2121408"/>
            <a:ext cx="502920" cy="502920"/>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28" name="Text 25"/>
          <p:cNvSpPr/>
          <p:nvPr/>
        </p:nvSpPr>
        <p:spPr>
          <a:xfrm>
            <a:off x="4800600" y="2103120"/>
            <a:ext cx="283464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Amazon EC2</a:t>
            </a:r>
            <a:endParaRPr lang="en-US" sz="1300" dirty="0"/>
          </a:p>
        </p:txBody>
      </p:sp>
      <p:sp>
        <p:nvSpPr>
          <p:cNvPr id="29" name="Text 26"/>
          <p:cNvSpPr/>
          <p:nvPr/>
        </p:nvSpPr>
        <p:spPr>
          <a:xfrm>
            <a:off x="4800600" y="2404872"/>
            <a:ext cx="2834640" cy="228600"/>
          </a:xfrm>
          <a:prstGeom prst="rect">
            <a:avLst/>
          </a:prstGeom>
          <a:noFill/>
          <a:ln/>
        </p:spPr>
        <p:txBody>
          <a:bodyPr wrap="square" rtlCol="0" anchor="ctr"/>
          <a:lstStyle/>
          <a:p>
            <a:pPr indent="0" marL="0">
              <a:buNone/>
            </a:pPr>
            <a:r>
              <a:rPr lang="en-US" sz="900" dirty="0">
                <a:solidFill>
                  <a:srgbClr val="5B6478"/>
                </a:solidFill>
                <a:latin typeface="Calibri" pitchFamily="34" charset="0"/>
                <a:ea typeface="Calibri" pitchFamily="34" charset="-122"/>
                <a:cs typeface="Calibri" pitchFamily="34" charset="-120"/>
              </a:rPr>
              <a:t>Docker Compose (t3.micro / t4g.micro)</a:t>
            </a:r>
            <a:endParaRPr lang="en-US" sz="900" dirty="0"/>
          </a:p>
        </p:txBody>
      </p:sp>
      <p:sp>
        <p:nvSpPr>
          <p:cNvPr id="30" name="Shape 27"/>
          <p:cNvSpPr/>
          <p:nvPr/>
        </p:nvSpPr>
        <p:spPr>
          <a:xfrm>
            <a:off x="4069080" y="2971800"/>
            <a:ext cx="566928" cy="566928"/>
          </a:xfrm>
          <a:prstGeom prst="roundRect">
            <a:avLst>
              <a:gd name="adj" fmla="val 11290"/>
            </a:avLst>
          </a:prstGeom>
          <a:solidFill>
            <a:srgbClr val="FFFFFF"/>
          </a:solidFill>
          <a:ln w="12700">
            <a:solidFill>
              <a:srgbClr val="C7CEDE"/>
            </a:solidFill>
            <a:prstDash val="dash"/>
          </a:ln>
        </p:spPr>
      </p:sp>
      <p:sp>
        <p:nvSpPr>
          <p:cNvPr id="31" name="Text 28"/>
          <p:cNvSpPr/>
          <p:nvPr/>
        </p:nvSpPr>
        <p:spPr>
          <a:xfrm>
            <a:off x="4069080" y="2971800"/>
            <a:ext cx="566928" cy="566928"/>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32" name="Text 29"/>
          <p:cNvSpPr/>
          <p:nvPr/>
        </p:nvSpPr>
        <p:spPr>
          <a:xfrm>
            <a:off x="3840480" y="3566160"/>
            <a:ext cx="1024128"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Ubuntu</a:t>
            </a:r>
            <a:endParaRPr lang="en-US" sz="750" dirty="0"/>
          </a:p>
        </p:txBody>
      </p:sp>
      <p:sp>
        <p:nvSpPr>
          <p:cNvPr id="33" name="Shape 30"/>
          <p:cNvSpPr/>
          <p:nvPr/>
        </p:nvSpPr>
        <p:spPr>
          <a:xfrm>
            <a:off x="4974336" y="2971800"/>
            <a:ext cx="566928" cy="566928"/>
          </a:xfrm>
          <a:prstGeom prst="roundRect">
            <a:avLst>
              <a:gd name="adj" fmla="val 11290"/>
            </a:avLst>
          </a:prstGeom>
          <a:solidFill>
            <a:srgbClr val="FFFFFF"/>
          </a:solidFill>
          <a:ln w="12700">
            <a:solidFill>
              <a:srgbClr val="C7CEDE"/>
            </a:solidFill>
            <a:prstDash val="dash"/>
          </a:ln>
        </p:spPr>
      </p:sp>
      <p:sp>
        <p:nvSpPr>
          <p:cNvPr id="34" name="Text 31"/>
          <p:cNvSpPr/>
          <p:nvPr/>
        </p:nvSpPr>
        <p:spPr>
          <a:xfrm>
            <a:off x="4974336" y="2971800"/>
            <a:ext cx="566928" cy="566928"/>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35" name="Text 32"/>
          <p:cNvSpPr/>
          <p:nvPr/>
        </p:nvSpPr>
        <p:spPr>
          <a:xfrm>
            <a:off x="4745736" y="3566160"/>
            <a:ext cx="1024128"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Docker</a:t>
            </a:r>
            <a:endParaRPr lang="en-US" sz="750" dirty="0"/>
          </a:p>
        </p:txBody>
      </p:sp>
      <p:sp>
        <p:nvSpPr>
          <p:cNvPr id="36" name="Shape 33"/>
          <p:cNvSpPr/>
          <p:nvPr/>
        </p:nvSpPr>
        <p:spPr>
          <a:xfrm>
            <a:off x="5879592" y="2971800"/>
            <a:ext cx="566928" cy="566928"/>
          </a:xfrm>
          <a:prstGeom prst="roundRect">
            <a:avLst>
              <a:gd name="adj" fmla="val 11290"/>
            </a:avLst>
          </a:prstGeom>
          <a:solidFill>
            <a:srgbClr val="FFFFFF"/>
          </a:solidFill>
          <a:ln w="12700">
            <a:solidFill>
              <a:srgbClr val="C7CEDE"/>
            </a:solidFill>
            <a:prstDash val="dash"/>
          </a:ln>
        </p:spPr>
      </p:sp>
      <p:sp>
        <p:nvSpPr>
          <p:cNvPr id="37" name="Text 34"/>
          <p:cNvSpPr/>
          <p:nvPr/>
        </p:nvSpPr>
        <p:spPr>
          <a:xfrm>
            <a:off x="5879592" y="2971800"/>
            <a:ext cx="566928" cy="566928"/>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38" name="Text 35"/>
          <p:cNvSpPr/>
          <p:nvPr/>
        </p:nvSpPr>
        <p:spPr>
          <a:xfrm>
            <a:off x="5650992" y="3566160"/>
            <a:ext cx="1024128"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Node.js</a:t>
            </a:r>
            <a:endParaRPr lang="en-US" sz="750" dirty="0"/>
          </a:p>
        </p:txBody>
      </p:sp>
      <p:sp>
        <p:nvSpPr>
          <p:cNvPr id="39" name="Shape 36"/>
          <p:cNvSpPr/>
          <p:nvPr/>
        </p:nvSpPr>
        <p:spPr>
          <a:xfrm>
            <a:off x="6784848" y="2971800"/>
            <a:ext cx="566928" cy="566928"/>
          </a:xfrm>
          <a:prstGeom prst="roundRect">
            <a:avLst>
              <a:gd name="adj" fmla="val 11290"/>
            </a:avLst>
          </a:prstGeom>
          <a:solidFill>
            <a:srgbClr val="FFFFFF"/>
          </a:solidFill>
          <a:ln w="12700">
            <a:solidFill>
              <a:srgbClr val="C7CEDE"/>
            </a:solidFill>
            <a:prstDash val="dash"/>
          </a:ln>
        </p:spPr>
      </p:sp>
      <p:sp>
        <p:nvSpPr>
          <p:cNvPr id="40" name="Text 37"/>
          <p:cNvSpPr/>
          <p:nvPr/>
        </p:nvSpPr>
        <p:spPr>
          <a:xfrm>
            <a:off x="6784848" y="2971800"/>
            <a:ext cx="566928" cy="566928"/>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41" name="Text 38"/>
          <p:cNvSpPr/>
          <p:nvPr/>
        </p:nvSpPr>
        <p:spPr>
          <a:xfrm>
            <a:off x="6556248" y="3566160"/>
            <a:ext cx="1024128"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Prisma</a:t>
            </a:r>
            <a:endParaRPr lang="en-US" sz="750" dirty="0"/>
          </a:p>
        </p:txBody>
      </p:sp>
      <p:sp>
        <p:nvSpPr>
          <p:cNvPr id="42" name="Shape 39"/>
          <p:cNvSpPr/>
          <p:nvPr/>
        </p:nvSpPr>
        <p:spPr>
          <a:xfrm>
            <a:off x="4069080" y="3931920"/>
            <a:ext cx="3474720" cy="365760"/>
          </a:xfrm>
          <a:prstGeom prst="roundRect">
            <a:avLst>
              <a:gd name="adj" fmla="val 20000"/>
            </a:avLst>
          </a:prstGeom>
          <a:solidFill>
            <a:srgbClr val="1E2761"/>
          </a:solidFill>
          <a:ln/>
        </p:spPr>
      </p:sp>
      <p:sp>
        <p:nvSpPr>
          <p:cNvPr id="43" name="Text 40"/>
          <p:cNvSpPr/>
          <p:nvPr/>
        </p:nvSpPr>
        <p:spPr>
          <a:xfrm>
            <a:off x="4069080" y="3931920"/>
            <a:ext cx="3474720"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認証 : JWT(jose) + bcrypt ハッシュ</a:t>
            </a:r>
            <a:endParaRPr lang="en-US" sz="1050" dirty="0"/>
          </a:p>
        </p:txBody>
      </p:sp>
      <p:sp>
        <p:nvSpPr>
          <p:cNvPr id="44" name="Text 41"/>
          <p:cNvSpPr/>
          <p:nvPr/>
        </p:nvSpPr>
        <p:spPr>
          <a:xfrm>
            <a:off x="4069080" y="4434840"/>
            <a:ext cx="3474720" cy="365760"/>
          </a:xfrm>
          <a:prstGeom prst="rect">
            <a:avLst/>
          </a:prstGeom>
          <a:noFill/>
          <a:ln/>
        </p:spPr>
        <p:txBody>
          <a:bodyPr wrap="square" rtlCol="0" anchor="ctr"/>
          <a:lstStyle/>
          <a:p>
            <a:pPr indent="0" marL="0">
              <a:lnSpc>
                <a:spcPct val="115000"/>
              </a:lnSpc>
              <a:buNone/>
            </a:pPr>
            <a:r>
              <a:rPr lang="en-US" sz="850" i="1" dirty="0">
                <a:solidFill>
                  <a:srgbClr val="8B93A7"/>
                </a:solidFill>
                <a:latin typeface="Calibri" pitchFamily="34" charset="0"/>
                <a:ea typeface="Calibri" pitchFamily="34" charset="-122"/>
                <a:cs typeface="Calibri" pitchFamily="34" charset="-120"/>
              </a:rPr>
              <a:t>scripts/*.mts バッチ実行 (cron) : AniList同期・ランキングスナップショット</a:t>
            </a:r>
            <a:endParaRPr lang="en-US" sz="850" dirty="0"/>
          </a:p>
        </p:txBody>
      </p:sp>
      <p:sp>
        <p:nvSpPr>
          <p:cNvPr id="45" name="Shape 42"/>
          <p:cNvSpPr/>
          <p:nvPr/>
        </p:nvSpPr>
        <p:spPr>
          <a:xfrm>
            <a:off x="8092440" y="1645920"/>
            <a:ext cx="3520440" cy="1371600"/>
          </a:xfrm>
          <a:prstGeom prst="roundRect">
            <a:avLst>
              <a:gd name="adj" fmla="val 6667"/>
            </a:avLst>
          </a:prstGeom>
          <a:solidFill>
            <a:srgbClr val="FFFFFF"/>
          </a:solidFill>
          <a:ln w="15875">
            <a:solidFill>
              <a:srgbClr val="8B93A7"/>
            </a:solidFill>
            <a:prstDash val="dash"/>
          </a:ln>
        </p:spPr>
      </p:sp>
      <p:sp>
        <p:nvSpPr>
          <p:cNvPr id="46" name="Text 43"/>
          <p:cNvSpPr/>
          <p:nvPr/>
        </p:nvSpPr>
        <p:spPr>
          <a:xfrm>
            <a:off x="8321040" y="1783080"/>
            <a:ext cx="3063240" cy="2560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CI / CD (任意)</a:t>
            </a:r>
            <a:endParaRPr lang="en-US" sz="1150" dirty="0"/>
          </a:p>
        </p:txBody>
      </p:sp>
      <p:sp>
        <p:nvSpPr>
          <p:cNvPr id="47" name="Shape 44"/>
          <p:cNvSpPr/>
          <p:nvPr/>
        </p:nvSpPr>
        <p:spPr>
          <a:xfrm>
            <a:off x="8366760" y="2212848"/>
            <a:ext cx="457200" cy="457200"/>
          </a:xfrm>
          <a:prstGeom prst="roundRect">
            <a:avLst>
              <a:gd name="adj" fmla="val 14000"/>
            </a:avLst>
          </a:prstGeom>
          <a:solidFill>
            <a:srgbClr val="FFFFFF"/>
          </a:solidFill>
          <a:ln w="12700">
            <a:solidFill>
              <a:srgbClr val="C7CEDE"/>
            </a:solidFill>
            <a:prstDash val="dash"/>
          </a:ln>
        </p:spPr>
      </p:sp>
      <p:sp>
        <p:nvSpPr>
          <p:cNvPr id="48" name="Text 45"/>
          <p:cNvSpPr/>
          <p:nvPr/>
        </p:nvSpPr>
        <p:spPr>
          <a:xfrm>
            <a:off x="8366760" y="2212848"/>
            <a:ext cx="457200" cy="457200"/>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49" name="Text 46"/>
          <p:cNvSpPr/>
          <p:nvPr/>
        </p:nvSpPr>
        <p:spPr>
          <a:xfrm>
            <a:off x="8138160" y="2697480"/>
            <a:ext cx="914400"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GitHub</a:t>
            </a:r>
            <a:endParaRPr lang="en-US" sz="750" dirty="0"/>
          </a:p>
        </p:txBody>
      </p:sp>
      <p:sp>
        <p:nvSpPr>
          <p:cNvPr id="50" name="Shape 47"/>
          <p:cNvSpPr/>
          <p:nvPr/>
        </p:nvSpPr>
        <p:spPr>
          <a:xfrm>
            <a:off x="9418320" y="2212848"/>
            <a:ext cx="457200" cy="457200"/>
          </a:xfrm>
          <a:prstGeom prst="roundRect">
            <a:avLst>
              <a:gd name="adj" fmla="val 14000"/>
            </a:avLst>
          </a:prstGeom>
          <a:solidFill>
            <a:srgbClr val="FFFFFF"/>
          </a:solidFill>
          <a:ln w="12700">
            <a:solidFill>
              <a:srgbClr val="C7CEDE"/>
            </a:solidFill>
            <a:prstDash val="dash"/>
          </a:ln>
        </p:spPr>
      </p:sp>
      <p:sp>
        <p:nvSpPr>
          <p:cNvPr id="51" name="Text 48"/>
          <p:cNvSpPr/>
          <p:nvPr/>
        </p:nvSpPr>
        <p:spPr>
          <a:xfrm>
            <a:off x="9418320" y="2212848"/>
            <a:ext cx="457200" cy="457200"/>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52" name="Text 49"/>
          <p:cNvSpPr/>
          <p:nvPr/>
        </p:nvSpPr>
        <p:spPr>
          <a:xfrm>
            <a:off x="9189720" y="2697480"/>
            <a:ext cx="914400"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GitHub Actions</a:t>
            </a:r>
            <a:endParaRPr lang="en-US" sz="750" dirty="0"/>
          </a:p>
        </p:txBody>
      </p:sp>
      <p:sp>
        <p:nvSpPr>
          <p:cNvPr id="53" name="Shape 50"/>
          <p:cNvSpPr/>
          <p:nvPr/>
        </p:nvSpPr>
        <p:spPr>
          <a:xfrm>
            <a:off x="7772400" y="2331720"/>
            <a:ext cx="320040" cy="0"/>
          </a:xfrm>
          <a:prstGeom prst="line">
            <a:avLst/>
          </a:prstGeom>
          <a:noFill/>
          <a:ln w="19050">
            <a:solidFill>
              <a:srgbClr val="8B93A7"/>
            </a:solidFill>
            <a:prstDash val="solid"/>
            <a:headEnd type="triangle"/>
          </a:ln>
        </p:spPr>
      </p:sp>
      <p:sp>
        <p:nvSpPr>
          <p:cNvPr id="54" name="Shape 51"/>
          <p:cNvSpPr/>
          <p:nvPr/>
        </p:nvSpPr>
        <p:spPr>
          <a:xfrm>
            <a:off x="8092440" y="3291840"/>
            <a:ext cx="3520440" cy="1371600"/>
          </a:xfrm>
          <a:prstGeom prst="roundRect">
            <a:avLst>
              <a:gd name="adj" fmla="val 6667"/>
            </a:avLst>
          </a:prstGeom>
          <a:solidFill>
            <a:srgbClr val="FFFFFF"/>
          </a:solidFill>
          <a:ln w="15875">
            <a:solidFill>
              <a:srgbClr val="8B93A7"/>
            </a:solidFill>
            <a:prstDash val="dash"/>
          </a:ln>
        </p:spPr>
      </p:sp>
      <p:sp>
        <p:nvSpPr>
          <p:cNvPr id="55" name="Text 52"/>
          <p:cNvSpPr/>
          <p:nvPr/>
        </p:nvSpPr>
        <p:spPr>
          <a:xfrm>
            <a:off x="8321040" y="3429000"/>
            <a:ext cx="3063240" cy="2560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Database</a:t>
            </a:r>
            <a:endParaRPr lang="en-US" sz="1150" dirty="0"/>
          </a:p>
        </p:txBody>
      </p:sp>
      <p:sp>
        <p:nvSpPr>
          <p:cNvPr id="56" name="Shape 53"/>
          <p:cNvSpPr/>
          <p:nvPr/>
        </p:nvSpPr>
        <p:spPr>
          <a:xfrm>
            <a:off x="8366760" y="3858768"/>
            <a:ext cx="457200" cy="457200"/>
          </a:xfrm>
          <a:prstGeom prst="roundRect">
            <a:avLst>
              <a:gd name="adj" fmla="val 14000"/>
            </a:avLst>
          </a:prstGeom>
          <a:solidFill>
            <a:srgbClr val="FFFFFF"/>
          </a:solidFill>
          <a:ln w="12700">
            <a:solidFill>
              <a:srgbClr val="C7CEDE"/>
            </a:solidFill>
            <a:prstDash val="dash"/>
          </a:ln>
        </p:spPr>
      </p:sp>
      <p:sp>
        <p:nvSpPr>
          <p:cNvPr id="57" name="Text 54"/>
          <p:cNvSpPr/>
          <p:nvPr/>
        </p:nvSpPr>
        <p:spPr>
          <a:xfrm>
            <a:off x="8366760" y="3858768"/>
            <a:ext cx="457200" cy="457200"/>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58" name="Text 55"/>
          <p:cNvSpPr/>
          <p:nvPr/>
        </p:nvSpPr>
        <p:spPr>
          <a:xfrm>
            <a:off x="8138160" y="4343400"/>
            <a:ext cx="914400"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PostgreSQL</a:t>
            </a:r>
            <a:endParaRPr lang="en-US" sz="750" dirty="0"/>
          </a:p>
        </p:txBody>
      </p:sp>
      <p:sp>
        <p:nvSpPr>
          <p:cNvPr id="59" name="Shape 56"/>
          <p:cNvSpPr/>
          <p:nvPr/>
        </p:nvSpPr>
        <p:spPr>
          <a:xfrm>
            <a:off x="9418320" y="3858768"/>
            <a:ext cx="457200" cy="457200"/>
          </a:xfrm>
          <a:prstGeom prst="roundRect">
            <a:avLst>
              <a:gd name="adj" fmla="val 14000"/>
            </a:avLst>
          </a:prstGeom>
          <a:solidFill>
            <a:srgbClr val="FFFFFF"/>
          </a:solidFill>
          <a:ln w="12700">
            <a:solidFill>
              <a:srgbClr val="C7CEDE"/>
            </a:solidFill>
            <a:prstDash val="dash"/>
          </a:ln>
        </p:spPr>
      </p:sp>
      <p:sp>
        <p:nvSpPr>
          <p:cNvPr id="60" name="Text 57"/>
          <p:cNvSpPr/>
          <p:nvPr/>
        </p:nvSpPr>
        <p:spPr>
          <a:xfrm>
            <a:off x="9418320" y="3858768"/>
            <a:ext cx="457200" cy="457200"/>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61" name="Text 58"/>
          <p:cNvSpPr/>
          <p:nvPr/>
        </p:nvSpPr>
        <p:spPr>
          <a:xfrm>
            <a:off x="9189720" y="4343400"/>
            <a:ext cx="914400"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Amazon RDS(予定)</a:t>
            </a:r>
            <a:endParaRPr lang="en-US" sz="750" dirty="0"/>
          </a:p>
        </p:txBody>
      </p:sp>
      <p:sp>
        <p:nvSpPr>
          <p:cNvPr id="62" name="Shape 59"/>
          <p:cNvSpPr/>
          <p:nvPr/>
        </p:nvSpPr>
        <p:spPr>
          <a:xfrm>
            <a:off x="7772400" y="3977640"/>
            <a:ext cx="320040" cy="0"/>
          </a:xfrm>
          <a:prstGeom prst="line">
            <a:avLst/>
          </a:prstGeom>
          <a:noFill/>
          <a:ln w="19050">
            <a:solidFill>
              <a:srgbClr val="8B93A7"/>
            </a:solidFill>
            <a:prstDash val="solid"/>
            <a:tailEnd type="triangle"/>
          </a:ln>
        </p:spPr>
      </p:sp>
      <p:sp>
        <p:nvSpPr>
          <p:cNvPr id="63" name="Shape 60"/>
          <p:cNvSpPr/>
          <p:nvPr/>
        </p:nvSpPr>
        <p:spPr>
          <a:xfrm>
            <a:off x="8092440" y="4937760"/>
            <a:ext cx="3520440" cy="1371600"/>
          </a:xfrm>
          <a:prstGeom prst="roundRect">
            <a:avLst>
              <a:gd name="adj" fmla="val 6667"/>
            </a:avLst>
          </a:prstGeom>
          <a:solidFill>
            <a:srgbClr val="F4F6FB"/>
          </a:solidFill>
          <a:ln/>
          <a:effectLst>
            <a:outerShdw sx="100000" sy="100000" kx="0" ky="0" algn="bl" rotWithShape="0" blurRad="101600" dist="38100" dir="5400000">
              <a:srgbClr val="1E2761">
                <a:alpha val="18000"/>
              </a:srgbClr>
            </a:outerShdw>
          </a:effectLst>
        </p:spPr>
      </p:sp>
      <p:sp>
        <p:nvSpPr>
          <p:cNvPr id="64" name="Text 61"/>
          <p:cNvSpPr/>
          <p:nvPr/>
        </p:nvSpPr>
        <p:spPr>
          <a:xfrm>
            <a:off x="8321040" y="5074920"/>
            <a:ext cx="3063240" cy="2560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外部サービス連携</a:t>
            </a:r>
            <a:endParaRPr lang="en-US" sz="1150" dirty="0"/>
          </a:p>
        </p:txBody>
      </p:sp>
      <p:sp>
        <p:nvSpPr>
          <p:cNvPr id="65" name="Shape 62"/>
          <p:cNvSpPr/>
          <p:nvPr/>
        </p:nvSpPr>
        <p:spPr>
          <a:xfrm>
            <a:off x="8321040" y="5504688"/>
            <a:ext cx="457200" cy="457200"/>
          </a:xfrm>
          <a:prstGeom prst="roundRect">
            <a:avLst>
              <a:gd name="adj" fmla="val 14000"/>
            </a:avLst>
          </a:prstGeom>
          <a:solidFill>
            <a:srgbClr val="FFFFFF"/>
          </a:solidFill>
          <a:ln w="12700">
            <a:solidFill>
              <a:srgbClr val="C7CEDE"/>
            </a:solidFill>
            <a:prstDash val="dash"/>
          </a:ln>
        </p:spPr>
      </p:sp>
      <p:sp>
        <p:nvSpPr>
          <p:cNvPr id="66" name="Text 63"/>
          <p:cNvSpPr/>
          <p:nvPr/>
        </p:nvSpPr>
        <p:spPr>
          <a:xfrm>
            <a:off x="8321040" y="5504688"/>
            <a:ext cx="457200" cy="457200"/>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67" name="Text 64"/>
          <p:cNvSpPr/>
          <p:nvPr/>
        </p:nvSpPr>
        <p:spPr>
          <a:xfrm>
            <a:off x="8092440" y="5989320"/>
            <a:ext cx="914400"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Claude API</a:t>
            </a:r>
            <a:endParaRPr lang="en-US" sz="750" dirty="0"/>
          </a:p>
        </p:txBody>
      </p:sp>
      <p:sp>
        <p:nvSpPr>
          <p:cNvPr id="68" name="Shape 65"/>
          <p:cNvSpPr/>
          <p:nvPr/>
        </p:nvSpPr>
        <p:spPr>
          <a:xfrm>
            <a:off x="9390888" y="5504688"/>
            <a:ext cx="457200" cy="457200"/>
          </a:xfrm>
          <a:prstGeom prst="roundRect">
            <a:avLst>
              <a:gd name="adj" fmla="val 14000"/>
            </a:avLst>
          </a:prstGeom>
          <a:solidFill>
            <a:srgbClr val="FFFFFF"/>
          </a:solidFill>
          <a:ln w="12700">
            <a:solidFill>
              <a:srgbClr val="C7CEDE"/>
            </a:solidFill>
            <a:prstDash val="dash"/>
          </a:ln>
        </p:spPr>
      </p:sp>
      <p:sp>
        <p:nvSpPr>
          <p:cNvPr id="69" name="Text 66"/>
          <p:cNvSpPr/>
          <p:nvPr/>
        </p:nvSpPr>
        <p:spPr>
          <a:xfrm>
            <a:off x="9390888" y="5504688"/>
            <a:ext cx="457200" cy="457200"/>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70" name="Text 67"/>
          <p:cNvSpPr/>
          <p:nvPr/>
        </p:nvSpPr>
        <p:spPr>
          <a:xfrm>
            <a:off x="9162288" y="5989320"/>
            <a:ext cx="914400"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AniList</a:t>
            </a:r>
            <a:endParaRPr lang="en-US" sz="750" dirty="0"/>
          </a:p>
        </p:txBody>
      </p:sp>
      <p:sp>
        <p:nvSpPr>
          <p:cNvPr id="71" name="Shape 68"/>
          <p:cNvSpPr/>
          <p:nvPr/>
        </p:nvSpPr>
        <p:spPr>
          <a:xfrm>
            <a:off x="10460736" y="5504688"/>
            <a:ext cx="457200" cy="457200"/>
          </a:xfrm>
          <a:prstGeom prst="roundRect">
            <a:avLst>
              <a:gd name="adj" fmla="val 14000"/>
            </a:avLst>
          </a:prstGeom>
          <a:solidFill>
            <a:srgbClr val="FFFFFF"/>
          </a:solidFill>
          <a:ln w="12700">
            <a:solidFill>
              <a:srgbClr val="C7CEDE"/>
            </a:solidFill>
            <a:prstDash val="dash"/>
          </a:ln>
        </p:spPr>
      </p:sp>
      <p:sp>
        <p:nvSpPr>
          <p:cNvPr id="72" name="Text 69"/>
          <p:cNvSpPr/>
          <p:nvPr/>
        </p:nvSpPr>
        <p:spPr>
          <a:xfrm>
            <a:off x="10460736" y="5504688"/>
            <a:ext cx="457200" cy="457200"/>
          </a:xfrm>
          <a:prstGeom prst="rect">
            <a:avLst/>
          </a:prstGeom>
          <a:noFill/>
          <a:ln/>
        </p:spPr>
        <p:txBody>
          <a:bodyPr wrap="square" rtlCol="0" anchor="ctr"/>
          <a:lstStyle/>
          <a:p>
            <a:pPr algn="ctr" indent="0" marL="0">
              <a:buNone/>
            </a:pPr>
            <a:r>
              <a:rPr lang="en-US" sz="700" b="1" spc="50" kern="0" dirty="0">
                <a:solidFill>
                  <a:srgbClr val="C7CEDE"/>
                </a:solidFill>
                <a:latin typeface="Calibri" pitchFamily="34" charset="0"/>
                <a:ea typeface="Calibri" pitchFamily="34" charset="-122"/>
                <a:cs typeface="Calibri" pitchFamily="34" charset="-120"/>
              </a:rPr>
              <a:t>ロゴ</a:t>
            </a:r>
            <a:endParaRPr lang="en-US" sz="700" dirty="0"/>
          </a:p>
        </p:txBody>
      </p:sp>
      <p:sp>
        <p:nvSpPr>
          <p:cNvPr id="73" name="Text 70"/>
          <p:cNvSpPr/>
          <p:nvPr/>
        </p:nvSpPr>
        <p:spPr>
          <a:xfrm>
            <a:off x="10232136" y="5989320"/>
            <a:ext cx="914400" cy="256032"/>
          </a:xfrm>
          <a:prstGeom prst="rect">
            <a:avLst/>
          </a:prstGeom>
          <a:noFill/>
          <a:ln/>
        </p:spPr>
        <p:txBody>
          <a:bodyPr wrap="square" rtlCol="0" anchor="ctr"/>
          <a:lstStyle/>
          <a:p>
            <a:pPr algn="ctr" indent="0" marL="0">
              <a:lnSpc>
                <a:spcPct val="100000"/>
              </a:lnSpc>
              <a:buNone/>
            </a:pPr>
            <a:r>
              <a:rPr lang="en-US" sz="750" dirty="0">
                <a:solidFill>
                  <a:srgbClr val="5B6478"/>
                </a:solidFill>
                <a:latin typeface="Calibri" pitchFamily="34" charset="0"/>
                <a:ea typeface="Calibri" pitchFamily="34" charset="-122"/>
                <a:cs typeface="Calibri" pitchFamily="34" charset="-120"/>
              </a:rPr>
              <a:t>LibreTranslate</a:t>
            </a:r>
            <a:endParaRPr lang="en-US" sz="750" dirty="0"/>
          </a:p>
        </p:txBody>
      </p:sp>
      <p:sp>
        <p:nvSpPr>
          <p:cNvPr id="74" name="Shape 71"/>
          <p:cNvSpPr/>
          <p:nvPr/>
        </p:nvSpPr>
        <p:spPr>
          <a:xfrm>
            <a:off x="7772400" y="5623560"/>
            <a:ext cx="320040" cy="0"/>
          </a:xfrm>
          <a:prstGeom prst="line">
            <a:avLst/>
          </a:prstGeom>
          <a:noFill/>
          <a:ln w="19050">
            <a:solidFill>
              <a:srgbClr val="8B93A7"/>
            </a:solidFill>
            <a:prstDash val="solid"/>
            <a:headEnd type="triangle"/>
            <a:tailEnd type="triangle"/>
          </a:ln>
        </p:spPr>
      </p:sp>
      <p:sp>
        <p:nvSpPr>
          <p:cNvPr id="75" name="Text 7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05</a:t>
            </a:r>
            <a:endParaRPr lang="en-US" sz="1000" dirty="0"/>
          </a:p>
        </p:txBody>
      </p:sp>
      <p:sp>
        <p:nvSpPr>
          <p:cNvPr id="76" name="Text 73"/>
          <p:cNvSpPr/>
          <p:nvPr/>
        </p:nvSpPr>
        <p:spPr>
          <a:xfrm>
            <a:off x="548640" y="6400800"/>
            <a:ext cx="4572000" cy="274320"/>
          </a:xfrm>
          <a:prstGeom prst="rect">
            <a:avLst/>
          </a:prstGeom>
          <a:noFill/>
          <a:ln/>
        </p:spPr>
        <p:txBody>
          <a:bodyPr wrap="square" rtlCol="0" anchor="ctr"/>
          <a:lstStyle/>
          <a:p>
            <a:pPr indent="0" marL="0">
              <a:buNone/>
            </a:pPr>
            <a:r>
              <a:rPr lang="en-US" sz="1000" spc="100" kern="0" dirty="0">
                <a:solidFill>
                  <a:srgbClr val="8B93A7"/>
                </a:solidFill>
                <a:latin typeface="Calibri" pitchFamily="34" charset="0"/>
                <a:ea typeface="Calibri" pitchFamily="34" charset="-122"/>
                <a:cs typeface="Calibri" pitchFamily="34" charset="-120"/>
              </a:rPr>
              <a:t>KIMINO NO ANIME WA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E8433B"/>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594360"/>
            <a:ext cx="91440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デモ</a:t>
            </a:r>
            <a:endParaRPr lang="en-US" sz="3200" dirty="0"/>
          </a:p>
        </p:txBody>
      </p:sp>
      <p:sp>
        <p:nvSpPr>
          <p:cNvPr id="4" name="Shape 2"/>
          <p:cNvSpPr/>
          <p:nvPr/>
        </p:nvSpPr>
        <p:spPr>
          <a:xfrm>
            <a:off x="548640" y="1737360"/>
            <a:ext cx="3474720" cy="1874520"/>
          </a:xfrm>
          <a:prstGeom prst="roundRect">
            <a:avLst>
              <a:gd name="adj" fmla="val 4878"/>
            </a:avLst>
          </a:prstGeom>
          <a:solidFill>
            <a:srgbClr val="F4F6FB"/>
          </a:solidFill>
          <a:ln/>
          <a:effectLst>
            <a:outerShdw sx="100000" sy="100000" kx="0" ky="0" algn="bl" rotWithShape="0" blurRad="101600" dist="38100" dir="5400000">
              <a:srgbClr val="1E2761">
                <a:alpha val="18000"/>
              </a:srgbClr>
            </a:outerShdw>
          </a:effectLst>
        </p:spPr>
      </p:sp>
      <p:sp>
        <p:nvSpPr>
          <p:cNvPr id="5" name="Shape 3"/>
          <p:cNvSpPr/>
          <p:nvPr/>
        </p:nvSpPr>
        <p:spPr>
          <a:xfrm>
            <a:off x="777240" y="1965960"/>
            <a:ext cx="384048" cy="384048"/>
          </a:xfrm>
          <a:prstGeom prst="ellipse">
            <a:avLst/>
          </a:prstGeom>
          <a:solidFill>
            <a:srgbClr val="1E2761"/>
          </a:solidFill>
          <a:ln/>
        </p:spPr>
      </p:sp>
      <p:sp>
        <p:nvSpPr>
          <p:cNvPr id="6" name="Text 4"/>
          <p:cNvSpPr/>
          <p:nvPr/>
        </p:nvSpPr>
        <p:spPr>
          <a:xfrm>
            <a:off x="777240" y="19659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3154680" y="1938528"/>
            <a:ext cx="566928" cy="566928"/>
          </a:xfrm>
          <a:prstGeom prst="ellipse">
            <a:avLst/>
          </a:prstGeom>
          <a:solidFill>
            <a:srgbClr val="FFFFFF"/>
          </a:solidFill>
          <a:ln/>
        </p:spPr>
      </p:sp>
      <p:pic>
        <p:nvPicPr>
          <p:cNvPr id="8" name="Image 0" descr="/home/claude/kiminoaniwa_ppt/icons/demo_home.png">    </p:cNvPr>
          <p:cNvPicPr>
            <a:picLocks noChangeAspect="1"/>
          </p:cNvPicPr>
          <p:nvPr/>
        </p:nvPicPr>
        <p:blipFill>
          <a:blip r:embed="rId1"/>
          <a:stretch>
            <a:fillRect/>
          </a:stretch>
        </p:blipFill>
        <p:spPr>
          <a:xfrm>
            <a:off x="3290743" y="2074591"/>
            <a:ext cx="294803" cy="294803"/>
          </a:xfrm>
          <a:prstGeom prst="rect">
            <a:avLst/>
          </a:prstGeom>
        </p:spPr>
      </p:pic>
      <p:sp>
        <p:nvSpPr>
          <p:cNvPr id="9" name="Text 6"/>
          <p:cNvSpPr/>
          <p:nvPr/>
        </p:nvSpPr>
        <p:spPr>
          <a:xfrm>
            <a:off x="777240" y="2487168"/>
            <a:ext cx="301752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ホーム / パーソナル推薦</a:t>
            </a:r>
            <a:endParaRPr lang="en-US" sz="1400" dirty="0"/>
          </a:p>
        </p:txBody>
      </p:sp>
      <p:sp>
        <p:nvSpPr>
          <p:cNvPr id="10" name="Text 7"/>
          <p:cNvSpPr/>
          <p:nvPr/>
        </p:nvSpPr>
        <p:spPr>
          <a:xfrm>
            <a:off x="777240" y="2852928"/>
            <a:ext cx="3017520" cy="640080"/>
          </a:xfrm>
          <a:prstGeom prst="rect">
            <a:avLst/>
          </a:prstGeom>
          <a:noFill/>
          <a:ln/>
        </p:spPr>
        <p:txBody>
          <a:bodyPr wrap="square"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好みキーワードに基づくおすすめ作品の表示</a:t>
            </a:r>
            <a:endParaRPr lang="en-US" sz="1050" dirty="0"/>
          </a:p>
        </p:txBody>
      </p:sp>
      <p:sp>
        <p:nvSpPr>
          <p:cNvPr id="11" name="Shape 8"/>
          <p:cNvSpPr/>
          <p:nvPr/>
        </p:nvSpPr>
        <p:spPr>
          <a:xfrm>
            <a:off x="4343400" y="1737360"/>
            <a:ext cx="3474720" cy="1874520"/>
          </a:xfrm>
          <a:prstGeom prst="roundRect">
            <a:avLst>
              <a:gd name="adj" fmla="val 4878"/>
            </a:avLst>
          </a:prstGeom>
          <a:solidFill>
            <a:srgbClr val="F4F6FB"/>
          </a:solidFill>
          <a:ln/>
          <a:effectLst>
            <a:outerShdw sx="100000" sy="100000" kx="0" ky="0" algn="bl" rotWithShape="0" blurRad="101600" dist="38100" dir="5400000">
              <a:srgbClr val="1E2761">
                <a:alpha val="18000"/>
              </a:srgbClr>
            </a:outerShdw>
          </a:effectLst>
        </p:spPr>
      </p:sp>
      <p:sp>
        <p:nvSpPr>
          <p:cNvPr id="12" name="Shape 9"/>
          <p:cNvSpPr/>
          <p:nvPr/>
        </p:nvSpPr>
        <p:spPr>
          <a:xfrm>
            <a:off x="4572000" y="1965960"/>
            <a:ext cx="384048" cy="384048"/>
          </a:xfrm>
          <a:prstGeom prst="ellipse">
            <a:avLst/>
          </a:prstGeom>
          <a:solidFill>
            <a:srgbClr val="1E2761"/>
          </a:solidFill>
          <a:ln/>
        </p:spPr>
      </p:sp>
      <p:sp>
        <p:nvSpPr>
          <p:cNvPr id="13" name="Text 10"/>
          <p:cNvSpPr/>
          <p:nvPr/>
        </p:nvSpPr>
        <p:spPr>
          <a:xfrm>
            <a:off x="4572000" y="19659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Shape 11"/>
          <p:cNvSpPr/>
          <p:nvPr/>
        </p:nvSpPr>
        <p:spPr>
          <a:xfrm>
            <a:off x="6949440" y="1938528"/>
            <a:ext cx="566928" cy="566928"/>
          </a:xfrm>
          <a:prstGeom prst="ellipse">
            <a:avLst/>
          </a:prstGeom>
          <a:solidFill>
            <a:srgbClr val="FFFFFF"/>
          </a:solidFill>
          <a:ln/>
        </p:spPr>
      </p:sp>
      <p:pic>
        <p:nvPicPr>
          <p:cNvPr id="15" name="Image 1" descr="/home/claude/kiminoaniwa_ppt/icons/demo_trophy.png">    </p:cNvPr>
          <p:cNvPicPr>
            <a:picLocks noChangeAspect="1"/>
          </p:cNvPicPr>
          <p:nvPr/>
        </p:nvPicPr>
        <p:blipFill>
          <a:blip r:embed="rId2"/>
          <a:stretch>
            <a:fillRect/>
          </a:stretch>
        </p:blipFill>
        <p:spPr>
          <a:xfrm>
            <a:off x="7085503" y="2074591"/>
            <a:ext cx="294803" cy="294803"/>
          </a:xfrm>
          <a:prstGeom prst="rect">
            <a:avLst/>
          </a:prstGeom>
        </p:spPr>
      </p:pic>
      <p:sp>
        <p:nvSpPr>
          <p:cNvPr id="16" name="Text 12"/>
          <p:cNvSpPr/>
          <p:nvPr/>
        </p:nvSpPr>
        <p:spPr>
          <a:xfrm>
            <a:off x="4572000" y="2487168"/>
            <a:ext cx="301752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ランキング</a:t>
            </a:r>
            <a:endParaRPr lang="en-US" sz="1400" dirty="0"/>
          </a:p>
        </p:txBody>
      </p:sp>
      <p:sp>
        <p:nvSpPr>
          <p:cNvPr id="17" name="Text 13"/>
          <p:cNvSpPr/>
          <p:nvPr/>
        </p:nvSpPr>
        <p:spPr>
          <a:xfrm>
            <a:off x="4572000" y="2852928"/>
            <a:ext cx="3017520" cy="640080"/>
          </a:xfrm>
          <a:prstGeom prst="rect">
            <a:avLst/>
          </a:prstGeom>
          <a:noFill/>
          <a:ln/>
        </p:spPr>
        <p:txBody>
          <a:bodyPr wrap="square"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韓国/日本マンガ・アニメの自社レビューランキング</a:t>
            </a:r>
            <a:endParaRPr lang="en-US" sz="1050" dirty="0"/>
          </a:p>
        </p:txBody>
      </p:sp>
      <p:sp>
        <p:nvSpPr>
          <p:cNvPr id="18" name="Shape 14"/>
          <p:cNvSpPr/>
          <p:nvPr/>
        </p:nvSpPr>
        <p:spPr>
          <a:xfrm>
            <a:off x="8138160" y="1737360"/>
            <a:ext cx="3474720" cy="1874520"/>
          </a:xfrm>
          <a:prstGeom prst="roundRect">
            <a:avLst>
              <a:gd name="adj" fmla="val 4878"/>
            </a:avLst>
          </a:prstGeom>
          <a:solidFill>
            <a:srgbClr val="F4F6FB"/>
          </a:solidFill>
          <a:ln/>
          <a:effectLst>
            <a:outerShdw sx="100000" sy="100000" kx="0" ky="0" algn="bl" rotWithShape="0" blurRad="101600" dist="38100" dir="5400000">
              <a:srgbClr val="1E2761">
                <a:alpha val="18000"/>
              </a:srgbClr>
            </a:outerShdw>
          </a:effectLst>
        </p:spPr>
      </p:sp>
      <p:sp>
        <p:nvSpPr>
          <p:cNvPr id="19" name="Shape 15"/>
          <p:cNvSpPr/>
          <p:nvPr/>
        </p:nvSpPr>
        <p:spPr>
          <a:xfrm>
            <a:off x="8366760" y="1965960"/>
            <a:ext cx="384048" cy="384048"/>
          </a:xfrm>
          <a:prstGeom prst="ellipse">
            <a:avLst/>
          </a:prstGeom>
          <a:solidFill>
            <a:srgbClr val="1E2761"/>
          </a:solidFill>
          <a:ln/>
        </p:spPr>
      </p:sp>
      <p:sp>
        <p:nvSpPr>
          <p:cNvPr id="20" name="Text 16"/>
          <p:cNvSpPr/>
          <p:nvPr/>
        </p:nvSpPr>
        <p:spPr>
          <a:xfrm>
            <a:off x="8366760" y="19659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Shape 17"/>
          <p:cNvSpPr/>
          <p:nvPr/>
        </p:nvSpPr>
        <p:spPr>
          <a:xfrm>
            <a:off x="10744200" y="1938528"/>
            <a:ext cx="566928" cy="566928"/>
          </a:xfrm>
          <a:prstGeom prst="ellipse">
            <a:avLst/>
          </a:prstGeom>
          <a:solidFill>
            <a:srgbClr val="FFFFFF"/>
          </a:solidFill>
          <a:ln/>
        </p:spPr>
      </p:sp>
      <p:pic>
        <p:nvPicPr>
          <p:cNvPr id="22" name="Image 2" descr="/home/claude/kiminoaniwa_ppt/icons/demo_book.png">    </p:cNvPr>
          <p:cNvPicPr>
            <a:picLocks noChangeAspect="1"/>
          </p:cNvPicPr>
          <p:nvPr/>
        </p:nvPicPr>
        <p:blipFill>
          <a:blip r:embed="rId3"/>
          <a:stretch>
            <a:fillRect/>
          </a:stretch>
        </p:blipFill>
        <p:spPr>
          <a:xfrm>
            <a:off x="10880263" y="2074591"/>
            <a:ext cx="294803" cy="294803"/>
          </a:xfrm>
          <a:prstGeom prst="rect">
            <a:avLst/>
          </a:prstGeom>
        </p:spPr>
      </p:pic>
      <p:sp>
        <p:nvSpPr>
          <p:cNvPr id="23" name="Text 18"/>
          <p:cNvSpPr/>
          <p:nvPr/>
        </p:nvSpPr>
        <p:spPr>
          <a:xfrm>
            <a:off x="8366760" y="2487168"/>
            <a:ext cx="301752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作品詳細</a:t>
            </a:r>
            <a:endParaRPr lang="en-US" sz="1400" dirty="0"/>
          </a:p>
        </p:txBody>
      </p:sp>
      <p:sp>
        <p:nvSpPr>
          <p:cNvPr id="24" name="Text 19"/>
          <p:cNvSpPr/>
          <p:nvPr/>
        </p:nvSpPr>
        <p:spPr>
          <a:xfrm>
            <a:off x="8366760" y="2852928"/>
            <a:ext cx="3017520" cy="640080"/>
          </a:xfrm>
          <a:prstGeom prst="rect">
            <a:avLst/>
          </a:prstGeom>
          <a:noFill/>
          <a:ln/>
        </p:spPr>
        <p:txBody>
          <a:bodyPr wrap="square"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原作-アニメのシリーズ接続・レビュー</a:t>
            </a:r>
            <a:endParaRPr lang="en-US" sz="1050" dirty="0"/>
          </a:p>
        </p:txBody>
      </p:sp>
      <p:sp>
        <p:nvSpPr>
          <p:cNvPr id="25" name="Shape 20"/>
          <p:cNvSpPr/>
          <p:nvPr/>
        </p:nvSpPr>
        <p:spPr>
          <a:xfrm>
            <a:off x="548640" y="3886200"/>
            <a:ext cx="3474720" cy="1874520"/>
          </a:xfrm>
          <a:prstGeom prst="roundRect">
            <a:avLst>
              <a:gd name="adj" fmla="val 4878"/>
            </a:avLst>
          </a:prstGeom>
          <a:solidFill>
            <a:srgbClr val="F4F6FB"/>
          </a:solidFill>
          <a:ln/>
          <a:effectLst>
            <a:outerShdw sx="100000" sy="100000" kx="0" ky="0" algn="bl" rotWithShape="0" blurRad="101600" dist="38100" dir="5400000">
              <a:srgbClr val="1E2761">
                <a:alpha val="18000"/>
              </a:srgbClr>
            </a:outerShdw>
          </a:effectLst>
        </p:spPr>
      </p:sp>
      <p:sp>
        <p:nvSpPr>
          <p:cNvPr id="26" name="Shape 21"/>
          <p:cNvSpPr/>
          <p:nvPr/>
        </p:nvSpPr>
        <p:spPr>
          <a:xfrm>
            <a:off x="777240" y="4114800"/>
            <a:ext cx="384048" cy="384048"/>
          </a:xfrm>
          <a:prstGeom prst="ellipse">
            <a:avLst/>
          </a:prstGeom>
          <a:solidFill>
            <a:srgbClr val="1E2761"/>
          </a:solidFill>
          <a:ln/>
        </p:spPr>
      </p:sp>
      <p:sp>
        <p:nvSpPr>
          <p:cNvPr id="27" name="Text 22"/>
          <p:cNvSpPr/>
          <p:nvPr/>
        </p:nvSpPr>
        <p:spPr>
          <a:xfrm>
            <a:off x="777240" y="41148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Shape 23"/>
          <p:cNvSpPr/>
          <p:nvPr/>
        </p:nvSpPr>
        <p:spPr>
          <a:xfrm>
            <a:off x="3154680" y="4087368"/>
            <a:ext cx="566928" cy="566928"/>
          </a:xfrm>
          <a:prstGeom prst="ellipse">
            <a:avLst/>
          </a:prstGeom>
          <a:solidFill>
            <a:srgbClr val="FFFFFF"/>
          </a:solidFill>
          <a:ln/>
        </p:spPr>
      </p:sp>
      <p:pic>
        <p:nvPicPr>
          <p:cNvPr id="29" name="Image 3" descr="/home/claude/kiminoaniwa_ppt/icons/demo_search.png">    </p:cNvPr>
          <p:cNvPicPr>
            <a:picLocks noChangeAspect="1"/>
          </p:cNvPicPr>
          <p:nvPr/>
        </p:nvPicPr>
        <p:blipFill>
          <a:blip r:embed="rId4"/>
          <a:stretch>
            <a:fillRect/>
          </a:stretch>
        </p:blipFill>
        <p:spPr>
          <a:xfrm>
            <a:off x="3290743" y="4223431"/>
            <a:ext cx="294803" cy="294803"/>
          </a:xfrm>
          <a:prstGeom prst="rect">
            <a:avLst/>
          </a:prstGeom>
        </p:spPr>
      </p:pic>
      <p:sp>
        <p:nvSpPr>
          <p:cNvPr id="30" name="Text 24"/>
          <p:cNvSpPr/>
          <p:nvPr/>
        </p:nvSpPr>
        <p:spPr>
          <a:xfrm>
            <a:off x="777240" y="4636008"/>
            <a:ext cx="301752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AI自然言語検索</a:t>
            </a:r>
            <a:endParaRPr lang="en-US" sz="1400" dirty="0"/>
          </a:p>
        </p:txBody>
      </p:sp>
      <p:sp>
        <p:nvSpPr>
          <p:cNvPr id="31" name="Text 25"/>
          <p:cNvSpPr/>
          <p:nvPr/>
        </p:nvSpPr>
        <p:spPr>
          <a:xfrm>
            <a:off x="777240" y="5001768"/>
            <a:ext cx="3017520" cy="640080"/>
          </a:xfrm>
          <a:prstGeom prst="rect">
            <a:avLst/>
          </a:prstGeom>
          <a:noFill/>
          <a:ln/>
        </p:spPr>
        <p:txBody>
          <a:bodyPr wrap="square"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Claudeによるタグ/ジャンルマッチング検索</a:t>
            </a:r>
            <a:endParaRPr lang="en-US" sz="1050" dirty="0"/>
          </a:p>
        </p:txBody>
      </p:sp>
      <p:sp>
        <p:nvSpPr>
          <p:cNvPr id="32" name="Shape 26"/>
          <p:cNvSpPr/>
          <p:nvPr/>
        </p:nvSpPr>
        <p:spPr>
          <a:xfrm>
            <a:off x="4343400" y="3886200"/>
            <a:ext cx="3474720" cy="1874520"/>
          </a:xfrm>
          <a:prstGeom prst="roundRect">
            <a:avLst>
              <a:gd name="adj" fmla="val 4878"/>
            </a:avLst>
          </a:prstGeom>
          <a:solidFill>
            <a:srgbClr val="F4F6FB"/>
          </a:solidFill>
          <a:ln/>
          <a:effectLst>
            <a:outerShdw sx="100000" sy="100000" kx="0" ky="0" algn="bl" rotWithShape="0" blurRad="101600" dist="38100" dir="5400000">
              <a:srgbClr val="1E2761">
                <a:alpha val="18000"/>
              </a:srgbClr>
            </a:outerShdw>
          </a:effectLst>
        </p:spPr>
      </p:sp>
      <p:sp>
        <p:nvSpPr>
          <p:cNvPr id="33" name="Shape 27"/>
          <p:cNvSpPr/>
          <p:nvPr/>
        </p:nvSpPr>
        <p:spPr>
          <a:xfrm>
            <a:off x="4572000" y="4114800"/>
            <a:ext cx="384048" cy="384048"/>
          </a:xfrm>
          <a:prstGeom prst="ellipse">
            <a:avLst/>
          </a:prstGeom>
          <a:solidFill>
            <a:srgbClr val="1E2761"/>
          </a:solidFill>
          <a:ln/>
        </p:spPr>
      </p:sp>
      <p:sp>
        <p:nvSpPr>
          <p:cNvPr id="34" name="Text 28"/>
          <p:cNvSpPr/>
          <p:nvPr/>
        </p:nvSpPr>
        <p:spPr>
          <a:xfrm>
            <a:off x="4572000" y="41148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5" name="Shape 29"/>
          <p:cNvSpPr/>
          <p:nvPr/>
        </p:nvSpPr>
        <p:spPr>
          <a:xfrm>
            <a:off x="6949440" y="4087368"/>
            <a:ext cx="566928" cy="566928"/>
          </a:xfrm>
          <a:prstGeom prst="ellipse">
            <a:avLst/>
          </a:prstGeom>
          <a:solidFill>
            <a:srgbClr val="FFFFFF"/>
          </a:solidFill>
          <a:ln/>
        </p:spPr>
      </p:sp>
      <p:pic>
        <p:nvPicPr>
          <p:cNvPr id="36" name="Image 4" descr="/home/claude/kiminoaniwa_ppt/icons/demo_chat.png">    </p:cNvPr>
          <p:cNvPicPr>
            <a:picLocks noChangeAspect="1"/>
          </p:cNvPicPr>
          <p:nvPr/>
        </p:nvPicPr>
        <p:blipFill>
          <a:blip r:embed="rId5"/>
          <a:stretch>
            <a:fillRect/>
          </a:stretch>
        </p:blipFill>
        <p:spPr>
          <a:xfrm>
            <a:off x="7085503" y="4223431"/>
            <a:ext cx="294803" cy="294803"/>
          </a:xfrm>
          <a:prstGeom prst="rect">
            <a:avLst/>
          </a:prstGeom>
        </p:spPr>
      </p:pic>
      <p:sp>
        <p:nvSpPr>
          <p:cNvPr id="37" name="Text 30"/>
          <p:cNvSpPr/>
          <p:nvPr/>
        </p:nvSpPr>
        <p:spPr>
          <a:xfrm>
            <a:off x="4572000" y="4636008"/>
            <a:ext cx="301752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AIチャットボット推薦</a:t>
            </a:r>
            <a:endParaRPr lang="en-US" sz="1400" dirty="0"/>
          </a:p>
        </p:txBody>
      </p:sp>
      <p:sp>
        <p:nvSpPr>
          <p:cNvPr id="38" name="Text 31"/>
          <p:cNvSpPr/>
          <p:nvPr/>
        </p:nvSpPr>
        <p:spPr>
          <a:xfrm>
            <a:off x="4572000" y="5001768"/>
            <a:ext cx="3017520" cy="640080"/>
          </a:xfrm>
          <a:prstGeom prst="rect">
            <a:avLst/>
          </a:prstGeom>
          <a:noFill/>
          <a:ln/>
        </p:spPr>
        <p:txBody>
          <a:bodyPr wrap="square"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対話形式のおすすめ・実DB作品での検証</a:t>
            </a:r>
            <a:endParaRPr lang="en-US" sz="1050" dirty="0"/>
          </a:p>
        </p:txBody>
      </p:sp>
      <p:sp>
        <p:nvSpPr>
          <p:cNvPr id="39" name="Shape 32"/>
          <p:cNvSpPr/>
          <p:nvPr/>
        </p:nvSpPr>
        <p:spPr>
          <a:xfrm>
            <a:off x="8138160" y="3886200"/>
            <a:ext cx="3474720" cy="1874520"/>
          </a:xfrm>
          <a:prstGeom prst="roundRect">
            <a:avLst>
              <a:gd name="adj" fmla="val 4878"/>
            </a:avLst>
          </a:prstGeom>
          <a:solidFill>
            <a:srgbClr val="F4F6FB"/>
          </a:solidFill>
          <a:ln/>
          <a:effectLst>
            <a:outerShdw sx="100000" sy="100000" kx="0" ky="0" algn="bl" rotWithShape="0" blurRad="101600" dist="38100" dir="5400000">
              <a:srgbClr val="1E2761">
                <a:alpha val="18000"/>
              </a:srgbClr>
            </a:outerShdw>
          </a:effectLst>
        </p:spPr>
      </p:sp>
      <p:sp>
        <p:nvSpPr>
          <p:cNvPr id="40" name="Shape 33"/>
          <p:cNvSpPr/>
          <p:nvPr/>
        </p:nvSpPr>
        <p:spPr>
          <a:xfrm>
            <a:off x="8366760" y="4114800"/>
            <a:ext cx="384048" cy="384048"/>
          </a:xfrm>
          <a:prstGeom prst="ellipse">
            <a:avLst/>
          </a:prstGeom>
          <a:solidFill>
            <a:srgbClr val="1E2761"/>
          </a:solidFill>
          <a:ln/>
        </p:spPr>
      </p:sp>
      <p:sp>
        <p:nvSpPr>
          <p:cNvPr id="41" name="Text 34"/>
          <p:cNvSpPr/>
          <p:nvPr/>
        </p:nvSpPr>
        <p:spPr>
          <a:xfrm>
            <a:off x="8366760" y="41148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2" name="Shape 35"/>
          <p:cNvSpPr/>
          <p:nvPr/>
        </p:nvSpPr>
        <p:spPr>
          <a:xfrm>
            <a:off x="10744200" y="4087368"/>
            <a:ext cx="566928" cy="566928"/>
          </a:xfrm>
          <a:prstGeom prst="ellipse">
            <a:avLst/>
          </a:prstGeom>
          <a:solidFill>
            <a:srgbClr val="FFFFFF"/>
          </a:solidFill>
          <a:ln/>
        </p:spPr>
      </p:sp>
      <p:pic>
        <p:nvPicPr>
          <p:cNvPr id="43" name="Image 5" descr="/home/claude/kiminoaniwa_ppt/icons/demo_user.png">    </p:cNvPr>
          <p:cNvPicPr>
            <a:picLocks noChangeAspect="1"/>
          </p:cNvPicPr>
          <p:nvPr/>
        </p:nvPicPr>
        <p:blipFill>
          <a:blip r:embed="rId6"/>
          <a:stretch>
            <a:fillRect/>
          </a:stretch>
        </p:blipFill>
        <p:spPr>
          <a:xfrm>
            <a:off x="10880263" y="4223431"/>
            <a:ext cx="294803" cy="294803"/>
          </a:xfrm>
          <a:prstGeom prst="rect">
            <a:avLst/>
          </a:prstGeom>
        </p:spPr>
      </p:pic>
      <p:sp>
        <p:nvSpPr>
          <p:cNvPr id="44" name="Text 36"/>
          <p:cNvSpPr/>
          <p:nvPr/>
        </p:nvSpPr>
        <p:spPr>
          <a:xfrm>
            <a:off x="8366760" y="4636008"/>
            <a:ext cx="3017520" cy="36576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マイページ</a:t>
            </a:r>
            <a:endParaRPr lang="en-US" sz="1400" dirty="0"/>
          </a:p>
        </p:txBody>
      </p:sp>
      <p:sp>
        <p:nvSpPr>
          <p:cNvPr id="45" name="Text 37"/>
          <p:cNvSpPr/>
          <p:nvPr/>
        </p:nvSpPr>
        <p:spPr>
          <a:xfrm>
            <a:off x="8366760" y="5001768"/>
            <a:ext cx="3017520" cy="640080"/>
          </a:xfrm>
          <a:prstGeom prst="rect">
            <a:avLst/>
          </a:prstGeom>
          <a:noFill/>
          <a:ln/>
        </p:spPr>
        <p:txBody>
          <a:bodyPr wrap="square" rtlCol="0" anchor="ctr"/>
          <a:lstStyle/>
          <a:p>
            <a:pPr indent="0" marL="0">
              <a:lnSpc>
                <a:spcPct val="115000"/>
              </a:lnSpc>
              <a:buNone/>
            </a:pPr>
            <a:r>
              <a:rPr lang="en-US" sz="1050" dirty="0">
                <a:solidFill>
                  <a:srgbClr val="5B6478"/>
                </a:solidFill>
                <a:latin typeface="Calibri" pitchFamily="34" charset="0"/>
                <a:ea typeface="Calibri" pitchFamily="34" charset="-122"/>
                <a:cs typeface="Calibri" pitchFamily="34" charset="-120"/>
              </a:rPr>
              <a:t>保管庫・好み設定・レビュー管理</a:t>
            </a:r>
            <a:endParaRPr lang="en-US" sz="1050" dirty="0"/>
          </a:p>
        </p:txBody>
      </p:sp>
      <p:sp>
        <p:nvSpPr>
          <p:cNvPr id="47" name="Text 38"/>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06</a:t>
            </a:r>
            <a:endParaRPr lang="en-US" sz="1000" dirty="0"/>
          </a:p>
        </p:txBody>
      </p:sp>
      <p:sp>
        <p:nvSpPr>
          <p:cNvPr id="48" name="Text 39"/>
          <p:cNvSpPr/>
          <p:nvPr/>
        </p:nvSpPr>
        <p:spPr>
          <a:xfrm>
            <a:off x="548640" y="6400800"/>
            <a:ext cx="4572000" cy="274320"/>
          </a:xfrm>
          <a:prstGeom prst="rect">
            <a:avLst/>
          </a:prstGeom>
          <a:noFill/>
          <a:ln/>
        </p:spPr>
        <p:txBody>
          <a:bodyPr wrap="square" rtlCol="0" anchor="ctr"/>
          <a:lstStyle/>
          <a:p>
            <a:pPr indent="0" marL="0">
              <a:buNone/>
            </a:pPr>
            <a:r>
              <a:rPr lang="en-US" sz="1000" spc="100" kern="0" dirty="0">
                <a:solidFill>
                  <a:srgbClr val="8B93A7"/>
                </a:solidFill>
                <a:latin typeface="Calibri" pitchFamily="34" charset="0"/>
                <a:ea typeface="Calibri" pitchFamily="34" charset="-122"/>
                <a:cs typeface="Calibri" pitchFamily="34" charset="-120"/>
              </a:rPr>
              <a:t>KIMINO NO ANIME WA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E8433B"/>
                </a:solidFill>
                <a:latin typeface="Calibri" pitchFamily="34" charset="0"/>
                <a:ea typeface="Calibri" pitchFamily="34" charset="-122"/>
                <a:cs typeface="Calibri" pitchFamily="34" charset="-120"/>
              </a:rPr>
              <a:t>NEXT STEPS IN JAPAN</a:t>
            </a:r>
            <a:endParaRPr lang="en-US" sz="1200" dirty="0"/>
          </a:p>
        </p:txBody>
      </p:sp>
      <p:sp>
        <p:nvSpPr>
          <p:cNvPr id="3" name="Text 1"/>
          <p:cNvSpPr/>
          <p:nvPr/>
        </p:nvSpPr>
        <p:spPr>
          <a:xfrm>
            <a:off x="548640" y="594360"/>
            <a:ext cx="91440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日本で改善してみたい点</a:t>
            </a:r>
            <a:endParaRPr lang="en-US" sz="3200" dirty="0"/>
          </a:p>
        </p:txBody>
      </p:sp>
      <p:sp>
        <p:nvSpPr>
          <p:cNvPr id="4" name="Shape 2"/>
          <p:cNvSpPr/>
          <p:nvPr/>
        </p:nvSpPr>
        <p:spPr>
          <a:xfrm>
            <a:off x="548640" y="1783080"/>
            <a:ext cx="566928" cy="566928"/>
          </a:xfrm>
          <a:prstGeom prst="ellipse">
            <a:avLst/>
          </a:prstGeom>
          <a:solidFill>
            <a:srgbClr val="F4F6FB"/>
          </a:solidFill>
          <a:ln/>
        </p:spPr>
      </p:sp>
      <p:pic>
        <p:nvPicPr>
          <p:cNvPr id="5" name="Image 0" descr="/home/claude/kiminoaniwa_ppt/icons/imp_lang.png">    </p:cNvPr>
          <p:cNvPicPr>
            <a:picLocks noChangeAspect="1"/>
          </p:cNvPicPr>
          <p:nvPr/>
        </p:nvPicPr>
        <p:blipFill>
          <a:blip r:embed="rId1"/>
          <a:stretch>
            <a:fillRect/>
          </a:stretch>
        </p:blipFill>
        <p:spPr>
          <a:xfrm>
            <a:off x="690372" y="1924812"/>
            <a:ext cx="283464" cy="283464"/>
          </a:xfrm>
          <a:prstGeom prst="rect">
            <a:avLst/>
          </a:prstGeom>
        </p:spPr>
      </p:pic>
      <p:sp>
        <p:nvSpPr>
          <p:cNvPr id="6" name="Text 3"/>
          <p:cNvSpPr/>
          <p:nvPr/>
        </p:nvSpPr>
        <p:spPr>
          <a:xfrm>
            <a:off x="1261872" y="1764792"/>
            <a:ext cx="461772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韓国語UIの完成</a:t>
            </a:r>
            <a:endParaRPr lang="en-US" sz="1350" dirty="0"/>
          </a:p>
        </p:txBody>
      </p:sp>
      <p:sp>
        <p:nvSpPr>
          <p:cNvPr id="7" name="Text 4"/>
          <p:cNvSpPr/>
          <p:nvPr/>
        </p:nvSpPr>
        <p:spPr>
          <a:xfrm>
            <a:off x="1261872" y="2103120"/>
            <a:ext cx="4617720" cy="868680"/>
          </a:xfrm>
          <a:prstGeom prst="rect">
            <a:avLst/>
          </a:prstGeom>
          <a:noFill/>
          <a:ln/>
        </p:spPr>
        <p:txBody>
          <a:bodyPr wrap="square" rtlCol="0" anchor="ctr"/>
          <a:lstStyle/>
          <a:p>
            <a:pPr indent="0" marL="0">
              <a:lnSpc>
                <a:spcPct val="120000"/>
              </a:lnSpc>
              <a:buNone/>
            </a:pPr>
            <a:r>
              <a:rPr lang="en-US" sz="1050" dirty="0">
                <a:solidFill>
                  <a:srgbClr val="5B6478"/>
                </a:solidFill>
                <a:latin typeface="Calibri" pitchFamily="34" charset="0"/>
                <a:ea typeface="Calibri" pitchFamily="34" charset="-122"/>
                <a:cs typeface="Calibri" pitchFamily="34" charset="-120"/>
              </a:rPr>
              <a:t>現在は日本語UIのみ実装済み — 韓国語のi18nリソース(ko)を追加し、完全なバイリンガルサービスへ</a:t>
            </a:r>
            <a:endParaRPr lang="en-US" sz="1050" dirty="0"/>
          </a:p>
        </p:txBody>
      </p:sp>
      <p:sp>
        <p:nvSpPr>
          <p:cNvPr id="8" name="Shape 5"/>
          <p:cNvSpPr/>
          <p:nvPr/>
        </p:nvSpPr>
        <p:spPr>
          <a:xfrm>
            <a:off x="6263640" y="1783080"/>
            <a:ext cx="566928" cy="566928"/>
          </a:xfrm>
          <a:prstGeom prst="ellipse">
            <a:avLst/>
          </a:prstGeom>
          <a:solidFill>
            <a:srgbClr val="F4F6FB"/>
          </a:solidFill>
          <a:ln/>
        </p:spPr>
      </p:sp>
      <p:pic>
        <p:nvPicPr>
          <p:cNvPr id="9" name="Image 1" descr="/home/claude/kiminoaniwa_ppt/icons/imp_refresh.png">    </p:cNvPr>
          <p:cNvPicPr>
            <a:picLocks noChangeAspect="1"/>
          </p:cNvPicPr>
          <p:nvPr/>
        </p:nvPicPr>
        <p:blipFill>
          <a:blip r:embed="rId2"/>
          <a:stretch>
            <a:fillRect/>
          </a:stretch>
        </p:blipFill>
        <p:spPr>
          <a:xfrm>
            <a:off x="6405372" y="1924812"/>
            <a:ext cx="283464" cy="283464"/>
          </a:xfrm>
          <a:prstGeom prst="rect">
            <a:avLst/>
          </a:prstGeom>
        </p:spPr>
      </p:pic>
      <p:sp>
        <p:nvSpPr>
          <p:cNvPr id="10" name="Text 6"/>
          <p:cNvSpPr/>
          <p:nvPr/>
        </p:nvSpPr>
        <p:spPr>
          <a:xfrm>
            <a:off x="6976872" y="1764792"/>
            <a:ext cx="461772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レビュー自動翻訳の連携</a:t>
            </a:r>
            <a:endParaRPr lang="en-US" sz="1350" dirty="0"/>
          </a:p>
        </p:txBody>
      </p:sp>
      <p:sp>
        <p:nvSpPr>
          <p:cNvPr id="11" name="Text 7"/>
          <p:cNvSpPr/>
          <p:nvPr/>
        </p:nvSpPr>
        <p:spPr>
          <a:xfrm>
            <a:off x="6976872" y="2103120"/>
            <a:ext cx="4617720" cy="868680"/>
          </a:xfrm>
          <a:prstGeom prst="rect">
            <a:avLst/>
          </a:prstGeom>
          <a:noFill/>
          <a:ln/>
        </p:spPr>
        <p:txBody>
          <a:bodyPr wrap="square" rtlCol="0" anchor="ctr"/>
          <a:lstStyle/>
          <a:p>
            <a:pPr indent="0" marL="0">
              <a:lnSpc>
                <a:spcPct val="120000"/>
              </a:lnSpc>
              <a:buNone/>
            </a:pPr>
            <a:r>
              <a:rPr lang="en-US" sz="1050" dirty="0">
                <a:solidFill>
                  <a:srgbClr val="5B6478"/>
                </a:solidFill>
                <a:latin typeface="Calibri" pitchFamily="34" charset="0"/>
                <a:ea typeface="Calibri" pitchFamily="34" charset="-122"/>
                <a:cs typeface="Calibri" pitchFamily="34" charset="-120"/>
              </a:rPr>
              <a:t>LibreTranslateとの連携を完成させ、日本語・韓国語のレビューを相互に自動翻訳して表示</a:t>
            </a:r>
            <a:endParaRPr lang="en-US" sz="1050" dirty="0"/>
          </a:p>
        </p:txBody>
      </p:sp>
      <p:sp>
        <p:nvSpPr>
          <p:cNvPr id="12" name="Shape 8"/>
          <p:cNvSpPr/>
          <p:nvPr/>
        </p:nvSpPr>
        <p:spPr>
          <a:xfrm>
            <a:off x="548640" y="3200400"/>
            <a:ext cx="566928" cy="566928"/>
          </a:xfrm>
          <a:prstGeom prst="ellipse">
            <a:avLst/>
          </a:prstGeom>
          <a:solidFill>
            <a:srgbClr val="F4F6FB"/>
          </a:solidFill>
          <a:ln/>
        </p:spPr>
      </p:sp>
      <p:pic>
        <p:nvPicPr>
          <p:cNvPr id="13" name="Image 2" descr="/home/claude/kiminoaniwa_ppt/icons/imp_users.png">    </p:cNvPr>
          <p:cNvPicPr>
            <a:picLocks noChangeAspect="1"/>
          </p:cNvPicPr>
          <p:nvPr/>
        </p:nvPicPr>
        <p:blipFill>
          <a:blip r:embed="rId3"/>
          <a:stretch>
            <a:fillRect/>
          </a:stretch>
        </p:blipFill>
        <p:spPr>
          <a:xfrm>
            <a:off x="690372" y="3342132"/>
            <a:ext cx="283464" cy="283464"/>
          </a:xfrm>
          <a:prstGeom prst="rect">
            <a:avLst/>
          </a:prstGeom>
        </p:spPr>
      </p:pic>
      <p:sp>
        <p:nvSpPr>
          <p:cNvPr id="14" name="Text 9"/>
          <p:cNvSpPr/>
          <p:nvPr/>
        </p:nvSpPr>
        <p:spPr>
          <a:xfrm>
            <a:off x="1261872" y="3182112"/>
            <a:ext cx="461772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協調フィルタリングの高度化</a:t>
            </a:r>
            <a:endParaRPr lang="en-US" sz="1350" dirty="0"/>
          </a:p>
        </p:txBody>
      </p:sp>
      <p:sp>
        <p:nvSpPr>
          <p:cNvPr id="15" name="Text 10"/>
          <p:cNvSpPr/>
          <p:nvPr/>
        </p:nvSpPr>
        <p:spPr>
          <a:xfrm>
            <a:off x="1261872" y="3520440"/>
            <a:ext cx="4617720" cy="868680"/>
          </a:xfrm>
          <a:prstGeom prst="rect">
            <a:avLst/>
          </a:prstGeom>
          <a:noFill/>
          <a:ln/>
        </p:spPr>
        <p:txBody>
          <a:bodyPr wrap="square" rtlCol="0" anchor="ctr"/>
          <a:lstStyle/>
          <a:p>
            <a:pPr indent="0" marL="0">
              <a:lnSpc>
                <a:spcPct val="120000"/>
              </a:lnSpc>
              <a:buNone/>
            </a:pPr>
            <a:r>
              <a:rPr lang="en-US" sz="1050" dirty="0">
                <a:solidFill>
                  <a:srgbClr val="5B6478"/>
                </a:solidFill>
                <a:latin typeface="Calibri" pitchFamily="34" charset="0"/>
                <a:ea typeface="Calibri" pitchFamily="34" charset="-122"/>
                <a:cs typeface="Calibri" pitchFamily="34" charset="-120"/>
              </a:rPr>
              <a:t>コンテンツベース推薦に加え、ユーザー間の類似度に基づく(協調フィルタリング)推薦を追加</a:t>
            </a:r>
            <a:endParaRPr lang="en-US" sz="1050" dirty="0"/>
          </a:p>
        </p:txBody>
      </p:sp>
      <p:sp>
        <p:nvSpPr>
          <p:cNvPr id="16" name="Shape 11"/>
          <p:cNvSpPr/>
          <p:nvPr/>
        </p:nvSpPr>
        <p:spPr>
          <a:xfrm>
            <a:off x="6263640" y="3200400"/>
            <a:ext cx="566928" cy="566928"/>
          </a:xfrm>
          <a:prstGeom prst="ellipse">
            <a:avLst/>
          </a:prstGeom>
          <a:solidFill>
            <a:srgbClr val="F4F6FB"/>
          </a:solidFill>
          <a:ln/>
        </p:spPr>
      </p:sp>
      <p:pic>
        <p:nvPicPr>
          <p:cNvPr id="17" name="Image 3" descr="/home/claude/kiminoaniwa_ppt/icons/imp_image.png">    </p:cNvPr>
          <p:cNvPicPr>
            <a:picLocks noChangeAspect="1"/>
          </p:cNvPicPr>
          <p:nvPr/>
        </p:nvPicPr>
        <p:blipFill>
          <a:blip r:embed="rId4"/>
          <a:stretch>
            <a:fillRect/>
          </a:stretch>
        </p:blipFill>
        <p:spPr>
          <a:xfrm>
            <a:off x="6405372" y="3342132"/>
            <a:ext cx="283464" cy="283464"/>
          </a:xfrm>
          <a:prstGeom prst="rect">
            <a:avLst/>
          </a:prstGeom>
        </p:spPr>
      </p:pic>
      <p:sp>
        <p:nvSpPr>
          <p:cNvPr id="18" name="Text 12"/>
          <p:cNvSpPr/>
          <p:nvPr/>
        </p:nvSpPr>
        <p:spPr>
          <a:xfrm>
            <a:off x="6976872" y="3182112"/>
            <a:ext cx="461772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画像CDNキャッシュ</a:t>
            </a:r>
            <a:endParaRPr lang="en-US" sz="1350" dirty="0"/>
          </a:p>
        </p:txBody>
      </p:sp>
      <p:sp>
        <p:nvSpPr>
          <p:cNvPr id="19" name="Text 13"/>
          <p:cNvSpPr/>
          <p:nvPr/>
        </p:nvSpPr>
        <p:spPr>
          <a:xfrm>
            <a:off x="6976872" y="3520440"/>
            <a:ext cx="4617720" cy="868680"/>
          </a:xfrm>
          <a:prstGeom prst="rect">
            <a:avLst/>
          </a:prstGeom>
          <a:noFill/>
          <a:ln/>
        </p:spPr>
        <p:txBody>
          <a:bodyPr wrap="square" rtlCol="0" anchor="ctr"/>
          <a:lstStyle/>
          <a:p>
            <a:pPr indent="0" marL="0">
              <a:lnSpc>
                <a:spcPct val="120000"/>
              </a:lnSpc>
              <a:buNone/>
            </a:pPr>
            <a:r>
              <a:rPr lang="en-US" sz="1050" dirty="0">
                <a:solidFill>
                  <a:srgbClr val="5B6478"/>
                </a:solidFill>
                <a:latin typeface="Calibri" pitchFamily="34" charset="0"/>
                <a:ea typeface="Calibri" pitchFamily="34" charset="-122"/>
                <a:cs typeface="Calibri" pitchFamily="34" charset="-120"/>
              </a:rPr>
              <a:t>AniList画像のホットリンクからS3 + CloudFrontキャッシュへ切り替え、速度・安定性を改善</a:t>
            </a:r>
            <a:endParaRPr lang="en-US" sz="1050" dirty="0"/>
          </a:p>
        </p:txBody>
      </p:sp>
      <p:sp>
        <p:nvSpPr>
          <p:cNvPr id="20" name="Shape 14"/>
          <p:cNvSpPr/>
          <p:nvPr/>
        </p:nvSpPr>
        <p:spPr>
          <a:xfrm>
            <a:off x="548640" y="4617720"/>
            <a:ext cx="566928" cy="566928"/>
          </a:xfrm>
          <a:prstGeom prst="ellipse">
            <a:avLst/>
          </a:prstGeom>
          <a:solidFill>
            <a:srgbClr val="F4F6FB"/>
          </a:solidFill>
          <a:ln/>
        </p:spPr>
      </p:sp>
      <p:pic>
        <p:nvPicPr>
          <p:cNvPr id="21" name="Image 4" descr="/home/claude/kiminoaniwa_ppt/icons/imp_map.png">    </p:cNvPr>
          <p:cNvPicPr>
            <a:picLocks noChangeAspect="1"/>
          </p:cNvPicPr>
          <p:nvPr/>
        </p:nvPicPr>
        <p:blipFill>
          <a:blip r:embed="rId5"/>
          <a:stretch>
            <a:fillRect/>
          </a:stretch>
        </p:blipFill>
        <p:spPr>
          <a:xfrm>
            <a:off x="690372" y="4759452"/>
            <a:ext cx="283464" cy="283464"/>
          </a:xfrm>
          <a:prstGeom prst="rect">
            <a:avLst/>
          </a:prstGeom>
        </p:spPr>
      </p:pic>
      <p:sp>
        <p:nvSpPr>
          <p:cNvPr id="22" name="Text 15"/>
          <p:cNvSpPr/>
          <p:nvPr/>
        </p:nvSpPr>
        <p:spPr>
          <a:xfrm>
            <a:off x="1261872" y="4599432"/>
            <a:ext cx="461772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現地ユーザーのUXテスト</a:t>
            </a:r>
            <a:endParaRPr lang="en-US" sz="1350" dirty="0"/>
          </a:p>
        </p:txBody>
      </p:sp>
      <p:sp>
        <p:nvSpPr>
          <p:cNvPr id="23" name="Text 16"/>
          <p:cNvSpPr/>
          <p:nvPr/>
        </p:nvSpPr>
        <p:spPr>
          <a:xfrm>
            <a:off x="1261872" y="4937760"/>
            <a:ext cx="4617720" cy="868680"/>
          </a:xfrm>
          <a:prstGeom prst="rect">
            <a:avLst/>
          </a:prstGeom>
          <a:noFill/>
          <a:ln/>
        </p:spPr>
        <p:txBody>
          <a:bodyPr wrap="square" rtlCol="0" anchor="ctr"/>
          <a:lstStyle/>
          <a:p>
            <a:pPr indent="0" marL="0">
              <a:lnSpc>
                <a:spcPct val="120000"/>
              </a:lnSpc>
              <a:buNone/>
            </a:pPr>
            <a:r>
              <a:rPr lang="en-US" sz="1050" dirty="0">
                <a:solidFill>
                  <a:srgbClr val="5B6478"/>
                </a:solidFill>
                <a:latin typeface="Calibri" pitchFamily="34" charset="0"/>
                <a:ea typeface="Calibri" pitchFamily="34" charset="-122"/>
                <a:cs typeface="Calibri" pitchFamily="34" charset="-120"/>
              </a:rPr>
              <a:t>日本のアニメ/マンガファンを対象にした実利用テストで、UI文言・推薦品質を検証</a:t>
            </a:r>
            <a:endParaRPr lang="en-US" sz="1050" dirty="0"/>
          </a:p>
        </p:txBody>
      </p:sp>
      <p:sp>
        <p:nvSpPr>
          <p:cNvPr id="24" name="Shape 17"/>
          <p:cNvSpPr/>
          <p:nvPr/>
        </p:nvSpPr>
        <p:spPr>
          <a:xfrm>
            <a:off x="6263640" y="4617720"/>
            <a:ext cx="566928" cy="566928"/>
          </a:xfrm>
          <a:prstGeom prst="ellipse">
            <a:avLst/>
          </a:prstGeom>
          <a:solidFill>
            <a:srgbClr val="F4F6FB"/>
          </a:solidFill>
          <a:ln/>
        </p:spPr>
      </p:sp>
      <p:pic>
        <p:nvPicPr>
          <p:cNvPr id="25" name="Image 5" descr="/home/claude/kiminoaniwa_ppt/icons/imp_trend.png">    </p:cNvPr>
          <p:cNvPicPr>
            <a:picLocks noChangeAspect="1"/>
          </p:cNvPicPr>
          <p:nvPr/>
        </p:nvPicPr>
        <p:blipFill>
          <a:blip r:embed="rId6"/>
          <a:stretch>
            <a:fillRect/>
          </a:stretch>
        </p:blipFill>
        <p:spPr>
          <a:xfrm>
            <a:off x="6405372" y="4759452"/>
            <a:ext cx="283464" cy="283464"/>
          </a:xfrm>
          <a:prstGeom prst="rect">
            <a:avLst/>
          </a:prstGeom>
        </p:spPr>
      </p:pic>
      <p:sp>
        <p:nvSpPr>
          <p:cNvPr id="26" name="Text 18"/>
          <p:cNvSpPr/>
          <p:nvPr/>
        </p:nvSpPr>
        <p:spPr>
          <a:xfrm>
            <a:off x="6976872" y="4599432"/>
            <a:ext cx="4617720" cy="3200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日本市場データの連携</a:t>
            </a:r>
            <a:endParaRPr lang="en-US" sz="1350" dirty="0"/>
          </a:p>
        </p:txBody>
      </p:sp>
      <p:sp>
        <p:nvSpPr>
          <p:cNvPr id="27" name="Text 19"/>
          <p:cNvSpPr/>
          <p:nvPr/>
        </p:nvSpPr>
        <p:spPr>
          <a:xfrm>
            <a:off x="6976872" y="4937760"/>
            <a:ext cx="4617720" cy="868680"/>
          </a:xfrm>
          <a:prstGeom prst="rect">
            <a:avLst/>
          </a:prstGeom>
          <a:noFill/>
          <a:ln/>
        </p:spPr>
        <p:txBody>
          <a:bodyPr wrap="square" rtlCol="0" anchor="ctr"/>
          <a:lstStyle/>
          <a:p>
            <a:pPr indent="0" marL="0">
              <a:lnSpc>
                <a:spcPct val="120000"/>
              </a:lnSpc>
              <a:buNone/>
            </a:pPr>
            <a:r>
              <a:rPr lang="en-US" sz="1050" dirty="0">
                <a:solidFill>
                  <a:srgbClr val="5B6478"/>
                </a:solidFill>
                <a:latin typeface="Calibri" pitchFamily="34" charset="0"/>
                <a:ea typeface="Calibri" pitchFamily="34" charset="-122"/>
                <a:cs typeface="Calibri" pitchFamily="34" charset="-120"/>
              </a:rPr>
              <a:t>日本国内の放送/発売情報など追加データソースの調査と連携を検討</a:t>
            </a:r>
            <a:endParaRPr lang="en-US" sz="1050" dirty="0"/>
          </a:p>
        </p:txBody>
      </p:sp>
      <p:sp>
        <p:nvSpPr>
          <p:cNvPr id="28" name="Text 2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07</a:t>
            </a:r>
            <a:endParaRPr lang="en-US" sz="1000" dirty="0"/>
          </a:p>
        </p:txBody>
      </p:sp>
      <p:sp>
        <p:nvSpPr>
          <p:cNvPr id="29" name="Text 21"/>
          <p:cNvSpPr/>
          <p:nvPr/>
        </p:nvSpPr>
        <p:spPr>
          <a:xfrm>
            <a:off x="548640" y="6400800"/>
            <a:ext cx="4572000" cy="274320"/>
          </a:xfrm>
          <a:prstGeom prst="rect">
            <a:avLst/>
          </a:prstGeom>
          <a:noFill/>
          <a:ln/>
        </p:spPr>
        <p:txBody>
          <a:bodyPr wrap="square" rtlCol="0" anchor="ctr"/>
          <a:lstStyle/>
          <a:p>
            <a:pPr indent="0" marL="0">
              <a:buNone/>
            </a:pPr>
            <a:r>
              <a:rPr lang="en-US" sz="1000" spc="100" kern="0" dirty="0">
                <a:solidFill>
                  <a:srgbClr val="8B93A7"/>
                </a:solidFill>
                <a:latin typeface="Calibri" pitchFamily="34" charset="0"/>
                <a:ea typeface="Calibri" pitchFamily="34" charset="-122"/>
                <a:cs typeface="Calibri" pitchFamily="34" charset="-120"/>
              </a:rPr>
              <a:t>KIMINO NO ANIME WA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indent="0" marL="0">
              <a:buNone/>
            </a:pPr>
            <a:r>
              <a:rPr lang="en-US" sz="1200" b="1" spc="200" kern="0" dirty="0">
                <a:solidFill>
                  <a:srgbClr val="E8433B"/>
                </a:solidFill>
                <a:latin typeface="Calibri" pitchFamily="34" charset="0"/>
                <a:ea typeface="Calibri" pitchFamily="34" charset="-122"/>
                <a:cs typeface="Calibri" pitchFamily="34" charset="-120"/>
              </a:rPr>
              <a:t>REFLECTIONS</a:t>
            </a:r>
            <a:endParaRPr lang="en-US" sz="1200" dirty="0"/>
          </a:p>
        </p:txBody>
      </p:sp>
      <p:sp>
        <p:nvSpPr>
          <p:cNvPr id="3" name="Text 1"/>
          <p:cNvSpPr/>
          <p:nvPr/>
        </p:nvSpPr>
        <p:spPr>
          <a:xfrm>
            <a:off x="548640" y="594360"/>
            <a:ext cx="91440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プロジェクトの感想・学び</a:t>
            </a:r>
            <a:endParaRPr lang="en-US" sz="3200" dirty="0"/>
          </a:p>
        </p:txBody>
      </p:sp>
      <p:sp>
        <p:nvSpPr>
          <p:cNvPr id="4" name="Shape 2"/>
          <p:cNvSpPr/>
          <p:nvPr/>
        </p:nvSpPr>
        <p:spPr>
          <a:xfrm>
            <a:off x="548640" y="1737360"/>
            <a:ext cx="5349240" cy="1988820"/>
          </a:xfrm>
          <a:prstGeom prst="roundRect">
            <a:avLst>
              <a:gd name="adj" fmla="val 4598"/>
            </a:avLst>
          </a:prstGeom>
          <a:solidFill>
            <a:srgbClr val="F4F6FB"/>
          </a:solidFill>
          <a:ln/>
          <a:effectLst>
            <a:outerShdw sx="100000" sy="100000" kx="0" ky="0" algn="bl" rotWithShape="0" blurRad="101600" dist="38100" dir="5400000">
              <a:srgbClr val="1E2761">
                <a:alpha val="18000"/>
              </a:srgbClr>
            </a:outerShdw>
          </a:effectLst>
        </p:spPr>
      </p:sp>
      <p:sp>
        <p:nvSpPr>
          <p:cNvPr id="5" name="Shape 3"/>
          <p:cNvSpPr/>
          <p:nvPr/>
        </p:nvSpPr>
        <p:spPr>
          <a:xfrm>
            <a:off x="822960" y="2011680"/>
            <a:ext cx="512064" cy="512064"/>
          </a:xfrm>
          <a:prstGeom prst="ellipse">
            <a:avLst/>
          </a:prstGeom>
          <a:solidFill>
            <a:srgbClr val="FFFFFF"/>
          </a:solidFill>
          <a:ln/>
        </p:spPr>
      </p:sp>
      <p:pic>
        <p:nvPicPr>
          <p:cNvPr id="6" name="Image 0" descr="/home/claude/kiminoaniwa_ppt/icons/learn_quote.png">    </p:cNvPr>
          <p:cNvPicPr>
            <a:picLocks noChangeAspect="1"/>
          </p:cNvPicPr>
          <p:nvPr/>
        </p:nvPicPr>
        <p:blipFill>
          <a:blip r:embed="rId1"/>
          <a:stretch>
            <a:fillRect/>
          </a:stretch>
        </p:blipFill>
        <p:spPr>
          <a:xfrm>
            <a:off x="950976" y="2139696"/>
            <a:ext cx="256032" cy="256032"/>
          </a:xfrm>
          <a:prstGeom prst="rect">
            <a:avLst/>
          </a:prstGeom>
        </p:spPr>
      </p:pic>
      <p:sp>
        <p:nvSpPr>
          <p:cNvPr id="7" name="Text 4"/>
          <p:cNvSpPr/>
          <p:nvPr/>
        </p:nvSpPr>
        <p:spPr>
          <a:xfrm>
            <a:off x="1508760" y="2011680"/>
            <a:ext cx="4160520" cy="512064"/>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キム・ダヨン</a:t>
            </a:r>
            <a:endParaRPr lang="en-US" sz="1500" dirty="0"/>
          </a:p>
        </p:txBody>
      </p:sp>
      <p:sp>
        <p:nvSpPr>
          <p:cNvPr id="8" name="Text 5"/>
          <p:cNvSpPr/>
          <p:nvPr/>
        </p:nvSpPr>
        <p:spPr>
          <a:xfrm>
            <a:off x="822960" y="2743200"/>
            <a:ext cx="4800600" cy="754380"/>
          </a:xfrm>
          <a:prstGeom prst="rect">
            <a:avLst/>
          </a:prstGeom>
          <a:noFill/>
          <a:ln/>
        </p:spPr>
        <p:txBody>
          <a:bodyPr wrap="square" rtlCol="0" anchor="ctr"/>
          <a:lstStyle/>
          <a:p>
            <a:pPr indent="0" marL="0">
              <a:lnSpc>
                <a:spcPct val="130000"/>
              </a:lnSpc>
              <a:buNone/>
            </a:pPr>
            <a:r>
              <a:rPr lang="en-US" sz="1100" i="1" dirty="0">
                <a:solidFill>
                  <a:srgbClr val="5B6478"/>
                </a:solidFill>
                <a:latin typeface="Calibri" pitchFamily="34" charset="0"/>
                <a:ea typeface="Calibri" pitchFamily="34" charset="-122"/>
                <a:cs typeface="Calibri" pitchFamily="34" charset="-120"/>
              </a:rPr>
              <a:t>3日間という短い期間でClaudeを使ってプロジェクトを進めたため、コードの構造や流れを完全に理解することはできませんでしたが、その過程を追いながら大まかな流れを学ぶ良い機会になったと思います。</a:t>
            </a:r>
            <a:endParaRPr lang="en-US" sz="1100" dirty="0"/>
          </a:p>
        </p:txBody>
      </p:sp>
      <p:sp>
        <p:nvSpPr>
          <p:cNvPr id="9" name="Shape 6"/>
          <p:cNvSpPr/>
          <p:nvPr/>
        </p:nvSpPr>
        <p:spPr>
          <a:xfrm>
            <a:off x="6263640" y="1737360"/>
            <a:ext cx="5349240" cy="1988820"/>
          </a:xfrm>
          <a:prstGeom prst="roundRect">
            <a:avLst>
              <a:gd name="adj" fmla="val 4598"/>
            </a:avLst>
          </a:prstGeom>
          <a:solidFill>
            <a:srgbClr val="F4F6FB"/>
          </a:solidFill>
          <a:ln/>
          <a:effectLst>
            <a:outerShdw sx="100000" sy="100000" kx="0" ky="0" algn="bl" rotWithShape="0" blurRad="101600" dist="38100" dir="5400000">
              <a:srgbClr val="1E2761">
                <a:alpha val="18000"/>
              </a:srgbClr>
            </a:outerShdw>
          </a:effectLst>
        </p:spPr>
      </p:sp>
      <p:sp>
        <p:nvSpPr>
          <p:cNvPr id="10" name="Shape 7"/>
          <p:cNvSpPr/>
          <p:nvPr/>
        </p:nvSpPr>
        <p:spPr>
          <a:xfrm>
            <a:off x="6537960" y="2011680"/>
            <a:ext cx="512064" cy="512064"/>
          </a:xfrm>
          <a:prstGeom prst="ellipse">
            <a:avLst/>
          </a:prstGeom>
          <a:solidFill>
            <a:srgbClr val="FFFFFF"/>
          </a:solidFill>
          <a:ln/>
        </p:spPr>
      </p:sp>
      <p:pic>
        <p:nvPicPr>
          <p:cNvPr id="11" name="Image 1" descr="/home/claude/kiminoaniwa_ppt/icons/learn_quote.png">    </p:cNvPr>
          <p:cNvPicPr>
            <a:picLocks noChangeAspect="1"/>
          </p:cNvPicPr>
          <p:nvPr/>
        </p:nvPicPr>
        <p:blipFill>
          <a:blip r:embed="rId2"/>
          <a:stretch>
            <a:fillRect/>
          </a:stretch>
        </p:blipFill>
        <p:spPr>
          <a:xfrm>
            <a:off x="6665976" y="2139696"/>
            <a:ext cx="256032" cy="256032"/>
          </a:xfrm>
          <a:prstGeom prst="rect">
            <a:avLst/>
          </a:prstGeom>
        </p:spPr>
      </p:pic>
      <p:sp>
        <p:nvSpPr>
          <p:cNvPr id="12" name="Text 8"/>
          <p:cNvSpPr/>
          <p:nvPr/>
        </p:nvSpPr>
        <p:spPr>
          <a:xfrm>
            <a:off x="7223760" y="2011680"/>
            <a:ext cx="4160520" cy="512064"/>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パク・ジョンミン</a:t>
            </a:r>
            <a:endParaRPr lang="en-US" sz="1500" dirty="0"/>
          </a:p>
        </p:txBody>
      </p:sp>
      <p:sp>
        <p:nvSpPr>
          <p:cNvPr id="13" name="Text 9"/>
          <p:cNvSpPr/>
          <p:nvPr/>
        </p:nvSpPr>
        <p:spPr>
          <a:xfrm>
            <a:off x="6537960" y="2743200"/>
            <a:ext cx="4800600" cy="754380"/>
          </a:xfrm>
          <a:prstGeom prst="rect">
            <a:avLst/>
          </a:prstGeom>
          <a:noFill/>
          <a:ln/>
        </p:spPr>
        <p:txBody>
          <a:bodyPr wrap="square" rtlCol="0" anchor="ctr"/>
          <a:lstStyle/>
          <a:p>
            <a:pPr indent="0" marL="0">
              <a:lnSpc>
                <a:spcPct val="130000"/>
              </a:lnSpc>
              <a:buNone/>
            </a:pPr>
            <a:r>
              <a:rPr lang="en-US" sz="1100" i="1" dirty="0">
                <a:solidFill>
                  <a:srgbClr val="5B6478"/>
                </a:solidFill>
                <a:latin typeface="Calibri" pitchFamily="34" charset="0"/>
                <a:ea typeface="Calibri" pitchFamily="34" charset="-122"/>
                <a:cs typeface="Calibri" pitchFamily="34" charset="-120"/>
              </a:rPr>
              <a:t>短い時間でしたが、みんなで話し合いながら作りたいものを形にできて良い経験になりました。短期間で急いで作りましたが、それでも全員が満足できる結果になって嬉しかったです。</a:t>
            </a:r>
            <a:endParaRPr lang="en-US" sz="1100" dirty="0"/>
          </a:p>
        </p:txBody>
      </p:sp>
      <p:sp>
        <p:nvSpPr>
          <p:cNvPr id="14" name="Shape 10"/>
          <p:cNvSpPr/>
          <p:nvPr/>
        </p:nvSpPr>
        <p:spPr>
          <a:xfrm>
            <a:off x="548640" y="4091940"/>
            <a:ext cx="5349240" cy="1988820"/>
          </a:xfrm>
          <a:prstGeom prst="roundRect">
            <a:avLst>
              <a:gd name="adj" fmla="val 4598"/>
            </a:avLst>
          </a:prstGeom>
          <a:solidFill>
            <a:srgbClr val="F4F6FB"/>
          </a:solidFill>
          <a:ln/>
          <a:effectLst>
            <a:outerShdw sx="100000" sy="100000" kx="0" ky="0" algn="bl" rotWithShape="0" blurRad="101600" dist="38100" dir="5400000">
              <a:srgbClr val="1E2761">
                <a:alpha val="18000"/>
              </a:srgbClr>
            </a:outerShdw>
          </a:effectLst>
        </p:spPr>
      </p:sp>
      <p:sp>
        <p:nvSpPr>
          <p:cNvPr id="15" name="Shape 11"/>
          <p:cNvSpPr/>
          <p:nvPr/>
        </p:nvSpPr>
        <p:spPr>
          <a:xfrm>
            <a:off x="822960" y="4366260"/>
            <a:ext cx="512064" cy="512064"/>
          </a:xfrm>
          <a:prstGeom prst="ellipse">
            <a:avLst/>
          </a:prstGeom>
          <a:solidFill>
            <a:srgbClr val="FFFFFF"/>
          </a:solidFill>
          <a:ln/>
        </p:spPr>
      </p:sp>
      <p:pic>
        <p:nvPicPr>
          <p:cNvPr id="16" name="Image 2" descr="/home/claude/kiminoaniwa_ppt/icons/learn_quote.png">    </p:cNvPr>
          <p:cNvPicPr>
            <a:picLocks noChangeAspect="1"/>
          </p:cNvPicPr>
          <p:nvPr/>
        </p:nvPicPr>
        <p:blipFill>
          <a:blip r:embed="rId3"/>
          <a:stretch>
            <a:fillRect/>
          </a:stretch>
        </p:blipFill>
        <p:spPr>
          <a:xfrm>
            <a:off x="950976" y="4494276"/>
            <a:ext cx="256032" cy="256032"/>
          </a:xfrm>
          <a:prstGeom prst="rect">
            <a:avLst/>
          </a:prstGeom>
        </p:spPr>
      </p:pic>
      <p:sp>
        <p:nvSpPr>
          <p:cNvPr id="17" name="Text 12"/>
          <p:cNvSpPr/>
          <p:nvPr/>
        </p:nvSpPr>
        <p:spPr>
          <a:xfrm>
            <a:off x="1508760" y="4366260"/>
            <a:ext cx="4160520" cy="512064"/>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サツキ</a:t>
            </a:r>
            <a:endParaRPr lang="en-US" sz="1500" dirty="0"/>
          </a:p>
        </p:txBody>
      </p:sp>
      <p:sp>
        <p:nvSpPr>
          <p:cNvPr id="18" name="Text 13"/>
          <p:cNvSpPr/>
          <p:nvPr/>
        </p:nvSpPr>
        <p:spPr>
          <a:xfrm>
            <a:off x="822960" y="5097780"/>
            <a:ext cx="4800600" cy="754380"/>
          </a:xfrm>
          <a:prstGeom prst="rect">
            <a:avLst/>
          </a:prstGeom>
          <a:noFill/>
          <a:ln/>
        </p:spPr>
        <p:txBody>
          <a:bodyPr wrap="square" rtlCol="0" anchor="ctr"/>
          <a:lstStyle/>
          <a:p>
            <a:pPr indent="0" marL="0">
              <a:lnSpc>
                <a:spcPct val="130000"/>
              </a:lnSpc>
              <a:buNone/>
            </a:pPr>
            <a:r>
              <a:rPr lang="en-US" sz="1100" i="1" dirty="0">
                <a:solidFill>
                  <a:srgbClr val="5B6478"/>
                </a:solidFill>
                <a:latin typeface="Calibri" pitchFamily="34" charset="0"/>
                <a:ea typeface="Calibri" pitchFamily="34" charset="-122"/>
                <a:cs typeface="Calibri" pitchFamily="34" charset="-120"/>
              </a:rPr>
              <a:t>AIを使うのは今回が初めてでしたが、この経験を活かして、これからはこうした最新技術を使って日本でもウェブサイト制作に挑戦してみたいと思います。</a:t>
            </a:r>
            <a:endParaRPr lang="en-US" sz="1100" dirty="0"/>
          </a:p>
        </p:txBody>
      </p:sp>
      <p:sp>
        <p:nvSpPr>
          <p:cNvPr id="19" name="Shape 14"/>
          <p:cNvSpPr/>
          <p:nvPr/>
        </p:nvSpPr>
        <p:spPr>
          <a:xfrm>
            <a:off x="6263640" y="4091940"/>
            <a:ext cx="5349240" cy="1988820"/>
          </a:xfrm>
          <a:prstGeom prst="roundRect">
            <a:avLst>
              <a:gd name="adj" fmla="val 4598"/>
            </a:avLst>
          </a:prstGeom>
          <a:solidFill>
            <a:srgbClr val="F4F6FB"/>
          </a:solidFill>
          <a:ln/>
          <a:effectLst>
            <a:outerShdw sx="100000" sy="100000" kx="0" ky="0" algn="bl" rotWithShape="0" blurRad="101600" dist="38100" dir="5400000">
              <a:srgbClr val="1E2761">
                <a:alpha val="18000"/>
              </a:srgbClr>
            </a:outerShdw>
          </a:effectLst>
        </p:spPr>
      </p:sp>
      <p:sp>
        <p:nvSpPr>
          <p:cNvPr id="20" name="Shape 15"/>
          <p:cNvSpPr/>
          <p:nvPr/>
        </p:nvSpPr>
        <p:spPr>
          <a:xfrm>
            <a:off x="6537960" y="4366260"/>
            <a:ext cx="512064" cy="512064"/>
          </a:xfrm>
          <a:prstGeom prst="ellipse">
            <a:avLst/>
          </a:prstGeom>
          <a:solidFill>
            <a:srgbClr val="FFFFFF"/>
          </a:solidFill>
          <a:ln/>
        </p:spPr>
      </p:sp>
      <p:pic>
        <p:nvPicPr>
          <p:cNvPr id="21" name="Image 3" descr="/home/claude/kiminoaniwa_ppt/icons/learn_quote.png">    </p:cNvPr>
          <p:cNvPicPr>
            <a:picLocks noChangeAspect="1"/>
          </p:cNvPicPr>
          <p:nvPr/>
        </p:nvPicPr>
        <p:blipFill>
          <a:blip r:embed="rId4"/>
          <a:stretch>
            <a:fillRect/>
          </a:stretch>
        </p:blipFill>
        <p:spPr>
          <a:xfrm>
            <a:off x="6665976" y="4494276"/>
            <a:ext cx="256032" cy="256032"/>
          </a:xfrm>
          <a:prstGeom prst="rect">
            <a:avLst/>
          </a:prstGeom>
        </p:spPr>
      </p:pic>
      <p:sp>
        <p:nvSpPr>
          <p:cNvPr id="22" name="Text 16"/>
          <p:cNvSpPr/>
          <p:nvPr/>
        </p:nvSpPr>
        <p:spPr>
          <a:xfrm>
            <a:off x="7223760" y="4366260"/>
            <a:ext cx="4160520" cy="512064"/>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コトコ</a:t>
            </a:r>
            <a:endParaRPr lang="en-US" sz="1500" dirty="0"/>
          </a:p>
        </p:txBody>
      </p:sp>
      <p:sp>
        <p:nvSpPr>
          <p:cNvPr id="23" name="Text 17"/>
          <p:cNvSpPr/>
          <p:nvPr/>
        </p:nvSpPr>
        <p:spPr>
          <a:xfrm>
            <a:off x="6537960" y="5097780"/>
            <a:ext cx="4800600" cy="754380"/>
          </a:xfrm>
          <a:prstGeom prst="rect">
            <a:avLst/>
          </a:prstGeom>
          <a:noFill/>
          <a:ln/>
        </p:spPr>
        <p:txBody>
          <a:bodyPr wrap="square" rtlCol="0" anchor="ctr"/>
          <a:lstStyle/>
          <a:p>
            <a:pPr indent="0" marL="0">
              <a:lnSpc>
                <a:spcPct val="130000"/>
              </a:lnSpc>
              <a:buNone/>
            </a:pPr>
            <a:r>
              <a:rPr lang="en-US" sz="1100" i="1" dirty="0">
                <a:solidFill>
                  <a:srgbClr val="5B6478"/>
                </a:solidFill>
                <a:latin typeface="Calibri" pitchFamily="34" charset="0"/>
                <a:ea typeface="Calibri" pitchFamily="34" charset="-122"/>
                <a:cs typeface="Calibri" pitchFamily="34" charset="-120"/>
              </a:rPr>
              <a:t>みんなで話し合いながら構成なども一緒に決めて作ることができて楽しかったです。</a:t>
            </a:r>
            <a:endParaRPr lang="en-US" sz="1100" dirty="0"/>
          </a:p>
        </p:txBody>
      </p:sp>
      <p:sp>
        <p:nvSpPr>
          <p:cNvPr id="24" name="Text 18"/>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08</a:t>
            </a:r>
            <a:endParaRPr lang="en-US" sz="1000" dirty="0"/>
          </a:p>
        </p:txBody>
      </p:sp>
      <p:sp>
        <p:nvSpPr>
          <p:cNvPr id="25" name="Text 19"/>
          <p:cNvSpPr/>
          <p:nvPr/>
        </p:nvSpPr>
        <p:spPr>
          <a:xfrm>
            <a:off x="548640" y="6400800"/>
            <a:ext cx="4572000" cy="274320"/>
          </a:xfrm>
          <a:prstGeom prst="rect">
            <a:avLst/>
          </a:prstGeom>
          <a:noFill/>
          <a:ln/>
        </p:spPr>
        <p:txBody>
          <a:bodyPr wrap="square" rtlCol="0" anchor="ctr"/>
          <a:lstStyle/>
          <a:p>
            <a:pPr indent="0" marL="0">
              <a:buNone/>
            </a:pPr>
            <a:r>
              <a:rPr lang="en-US" sz="1000" spc="100" kern="0" dirty="0">
                <a:solidFill>
                  <a:srgbClr val="8B93A7"/>
                </a:solidFill>
                <a:latin typeface="Calibri" pitchFamily="34" charset="0"/>
                <a:ea typeface="Calibri" pitchFamily="34" charset="-122"/>
                <a:cs typeface="Calibri" pitchFamily="34" charset="-120"/>
              </a:rPr>
              <a:t>KIMINO NO ANIME WA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41B49"/>
          </a:solidFill>
          <a:ln/>
        </p:spPr>
      </p:sp>
      <p:sp>
        <p:nvSpPr>
          <p:cNvPr id="3" name="Shape 1"/>
          <p:cNvSpPr/>
          <p:nvPr/>
        </p:nvSpPr>
        <p:spPr>
          <a:xfrm>
            <a:off x="9601200" y="3657600"/>
            <a:ext cx="4572000" cy="4572000"/>
          </a:xfrm>
          <a:prstGeom prst="ellipse">
            <a:avLst/>
          </a:prstGeom>
          <a:solidFill>
            <a:srgbClr val="141B49"/>
          </a:solidFill>
          <a:ln/>
        </p:spPr>
      </p:sp>
      <p:sp>
        <p:nvSpPr>
          <p:cNvPr id="4" name="Shape 2"/>
          <p:cNvSpPr/>
          <p:nvPr/>
        </p:nvSpPr>
        <p:spPr>
          <a:xfrm>
            <a:off x="5545836" y="1965960"/>
            <a:ext cx="1097280" cy="1097280"/>
          </a:xfrm>
          <a:prstGeom prst="ellipse">
            <a:avLst/>
          </a:prstGeom>
          <a:solidFill>
            <a:srgbClr val="E8433B"/>
          </a:solidFill>
          <a:ln/>
        </p:spPr>
      </p:sp>
      <p:pic>
        <p:nvPicPr>
          <p:cNvPr id="5" name="Image 0" descr="/home/claude/kiminoaniwa_ppt/icons/qa_bot.png">    </p:cNvPr>
          <p:cNvPicPr>
            <a:picLocks noChangeAspect="1"/>
          </p:cNvPicPr>
          <p:nvPr/>
        </p:nvPicPr>
        <p:blipFill>
          <a:blip r:embed="rId1"/>
          <a:stretch>
            <a:fillRect/>
          </a:stretch>
        </p:blipFill>
        <p:spPr>
          <a:xfrm>
            <a:off x="5792724" y="2212848"/>
            <a:ext cx="603504" cy="603504"/>
          </a:xfrm>
          <a:prstGeom prst="rect">
            <a:avLst/>
          </a:prstGeom>
        </p:spPr>
      </p:pic>
      <p:sp>
        <p:nvSpPr>
          <p:cNvPr id="6" name="Text 3"/>
          <p:cNvSpPr/>
          <p:nvPr/>
        </p:nvSpPr>
        <p:spPr>
          <a:xfrm>
            <a:off x="0" y="3246120"/>
            <a:ext cx="12188952" cy="91440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Q &amp; A</a:t>
            </a:r>
            <a:endParaRPr lang="en-US" sz="4800" dirty="0"/>
          </a:p>
        </p:txBody>
      </p:sp>
      <p:sp>
        <p:nvSpPr>
          <p:cNvPr id="7" name="Text 4"/>
          <p:cNvSpPr/>
          <p:nvPr/>
        </p:nvSpPr>
        <p:spPr>
          <a:xfrm>
            <a:off x="0" y="4206240"/>
            <a:ext cx="12188952" cy="457200"/>
          </a:xfrm>
          <a:prstGeom prst="rect">
            <a:avLst/>
          </a:prstGeom>
          <a:noFill/>
          <a:ln/>
        </p:spPr>
        <p:txBody>
          <a:bodyPr wrap="square"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ご清聴ありがとうございました</a:t>
            </a:r>
            <a:endParaRPr lang="en-US" sz="1600" dirty="0"/>
          </a:p>
        </p:txBody>
      </p:sp>
      <p:sp>
        <p:nvSpPr>
          <p:cNvPr id="8" name="Text 5"/>
          <p:cNvSpPr/>
          <p:nvPr/>
        </p:nvSpPr>
        <p:spPr>
          <a:xfrm>
            <a:off x="0" y="6172200"/>
            <a:ext cx="12188952" cy="320040"/>
          </a:xfrm>
          <a:prstGeom prst="rect">
            <a:avLst/>
          </a:prstGeom>
          <a:noFill/>
          <a:ln/>
        </p:spPr>
        <p:txBody>
          <a:bodyPr wrap="square" rtlCol="0" anchor="ctr"/>
          <a:lstStyle/>
          <a:p>
            <a:pPr algn="ctr" indent="0" marL="0">
              <a:buNone/>
            </a:pPr>
            <a:r>
              <a:rPr lang="en-US" sz="1100" dirty="0">
                <a:solidFill>
                  <a:srgbClr val="8B93A7"/>
                </a:solidFill>
                <a:latin typeface="Calibri" pitchFamily="34" charset="0"/>
                <a:ea typeface="Calibri" pitchFamily="34" charset="-122"/>
                <a:cs typeface="Calibri" pitchFamily="34" charset="-120"/>
              </a:rPr>
              <a:t>君のアニメは  ·  YJU-GSC  ·  GSC Lab 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2026-08-20T02:39:42Z</dcterms:created>
  <dcterms:modified xsi:type="dcterms:W3CDTF">2026-08-20T02:39:42Z</dcterms:modified>
</cp:coreProperties>
</file>